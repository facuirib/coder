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87" r:id="rId2"/>
    <p:sldId id="288" r:id="rId3"/>
    <p:sldId id="289" r:id="rId4"/>
    <p:sldId id="290" r:id="rId5"/>
    <p:sldId id="291" r:id="rId6"/>
    <p:sldId id="293" r:id="rId7"/>
    <p:sldId id="296" r:id="rId8"/>
    <p:sldId id="295" r:id="rId9"/>
    <p:sldId id="297" r:id="rId10"/>
    <p:sldId id="298" r:id="rId11"/>
    <p:sldId id="299" r:id="rId12"/>
    <p:sldId id="301" r:id="rId13"/>
    <p:sldId id="302" r:id="rId14"/>
    <p:sldId id="303" r:id="rId15"/>
    <p:sldId id="305" r:id="rId16"/>
    <p:sldId id="306" r:id="rId17"/>
    <p:sldId id="308" r:id="rId18"/>
    <p:sldId id="269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SemiBold" panose="000007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01">
          <p15:clr>
            <a:srgbClr val="A4A3A4"/>
          </p15:clr>
        </p15:guide>
        <p15:guide id="2" pos="3957">
          <p15:clr>
            <a:srgbClr val="A4A3A4"/>
          </p15:clr>
        </p15:guide>
        <p15:guide id="3" orient="horz" pos="426">
          <p15:clr>
            <a:srgbClr val="9AA0A6"/>
          </p15:clr>
        </p15:guide>
        <p15:guide id="4" pos="4266">
          <p15:clr>
            <a:srgbClr val="A4A3A4"/>
          </p15:clr>
        </p15:guide>
        <p15:guide id="5" pos="2784">
          <p15:clr>
            <a:srgbClr val="A4A3A4"/>
          </p15:clr>
        </p15:guide>
        <p15:guide id="6" pos="3990">
          <p15:clr>
            <a:srgbClr val="A4A3A4"/>
          </p15:clr>
        </p15:guide>
        <p15:guide id="7" pos="1353">
          <p15:clr>
            <a:srgbClr val="A4A3A4"/>
          </p15:clr>
        </p15:guide>
        <p15:guide id="8" pos="2109">
          <p15:clr>
            <a:srgbClr val="A4A3A4"/>
          </p15:clr>
        </p15:guide>
        <p15:guide id="9" pos="63">
          <p15:clr>
            <a:srgbClr val="A4A3A4"/>
          </p15:clr>
        </p15:guide>
        <p15:guide id="10" orient="horz" pos="519">
          <p15:clr>
            <a:srgbClr val="9AA0A6"/>
          </p15:clr>
        </p15:guide>
        <p15:guide id="11" pos="3621">
          <p15:clr>
            <a:srgbClr val="9AA0A6"/>
          </p15:clr>
        </p15:guide>
        <p15:guide id="12" orient="horz" pos="641">
          <p15:clr>
            <a:srgbClr val="9AA0A6"/>
          </p15:clr>
        </p15:guide>
        <p15:guide id="13" orient="horz" pos="3191">
          <p15:clr>
            <a:srgbClr val="9AA0A6"/>
          </p15:clr>
        </p15:guide>
        <p15:guide id="14" pos="663">
          <p15:clr>
            <a:srgbClr val="9AA0A6"/>
          </p15:clr>
        </p15:guide>
        <p15:guide id="15" pos="720">
          <p15:clr>
            <a:srgbClr val="9AA0A6"/>
          </p15:clr>
        </p15:guide>
        <p15:guide id="16" pos="4359">
          <p15:clr>
            <a:srgbClr val="9AA0A6"/>
          </p15:clr>
        </p15:guide>
        <p15:guide id="17" pos="570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81D52A-5BCB-4250-AE6E-C4EBC8D403B7}" v="28" dt="2025-09-26T08:18:51.450"/>
  </p1510:revLst>
</p1510:revInfo>
</file>

<file path=ppt/tableStyles.xml><?xml version="1.0" encoding="utf-8"?>
<a:tblStyleLst xmlns:a="http://schemas.openxmlformats.org/drawingml/2006/main" def="{9223FA8E-F35A-44A7-994D-F3E66493AE3B}">
  <a:tblStyle styleId="{9223FA8E-F35A-44A7-994D-F3E66493AE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38" y="120"/>
      </p:cViewPr>
      <p:guideLst>
        <p:guide orient="horz" pos="1701"/>
        <p:guide pos="3957"/>
        <p:guide orient="horz" pos="426"/>
        <p:guide pos="4266"/>
        <p:guide pos="2784"/>
        <p:guide pos="3990"/>
        <p:guide pos="1353"/>
        <p:guide pos="2109"/>
        <p:guide pos="63"/>
        <p:guide orient="horz" pos="519"/>
        <p:guide pos="3621"/>
        <p:guide orient="horz" pos="641"/>
        <p:guide orient="horz" pos="3191"/>
        <p:guide pos="663"/>
        <p:guide pos="720"/>
        <p:guide pos="4359"/>
        <p:guide pos="57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cundo Bosch" userId="58229a8a99125e28" providerId="LiveId" clId="{CF27E628-3BF0-4823-ACFC-2CE4B8912D0E}"/>
    <pc:docChg chg="undo custSel addSld delSld modSld sldOrd">
      <pc:chgData name="Facundo Bosch" userId="58229a8a99125e28" providerId="LiveId" clId="{CF27E628-3BF0-4823-ACFC-2CE4B8912D0E}" dt="2025-08-05T15:38:21.371" v="1690" actId="20577"/>
      <pc:docMkLst>
        <pc:docMk/>
      </pc:docMkLst>
      <pc:sldChg chg="modSp mod">
        <pc:chgData name="Facundo Bosch" userId="58229a8a99125e28" providerId="LiveId" clId="{CF27E628-3BF0-4823-ACFC-2CE4B8912D0E}" dt="2025-08-05T15:38:21.371" v="1690" actId="20577"/>
        <pc:sldMkLst>
          <pc:docMk/>
          <pc:sldMk cId="0" sldId="269"/>
        </pc:sldMkLst>
      </pc:sldChg>
      <pc:sldChg chg="modSp mod">
        <pc:chgData name="Facundo Bosch" userId="58229a8a99125e28" providerId="LiveId" clId="{CF27E628-3BF0-4823-ACFC-2CE4B8912D0E}" dt="2025-08-05T14:53:34.652" v="49" actId="207"/>
        <pc:sldMkLst>
          <pc:docMk/>
          <pc:sldMk cId="635517703" sldId="289"/>
        </pc:sldMkLst>
      </pc:sldChg>
      <pc:sldChg chg="modSp mod">
        <pc:chgData name="Facundo Bosch" userId="58229a8a99125e28" providerId="LiveId" clId="{CF27E628-3BF0-4823-ACFC-2CE4B8912D0E}" dt="2025-08-05T14:53:38.826" v="50" actId="207"/>
        <pc:sldMkLst>
          <pc:docMk/>
          <pc:sldMk cId="4087488221" sldId="290"/>
        </pc:sldMkLst>
      </pc:sldChg>
      <pc:sldChg chg="addSp modSp mod">
        <pc:chgData name="Facundo Bosch" userId="58229a8a99125e28" providerId="LiveId" clId="{CF27E628-3BF0-4823-ACFC-2CE4B8912D0E}" dt="2025-08-05T14:57:42.337" v="96" actId="20577"/>
        <pc:sldMkLst>
          <pc:docMk/>
          <pc:sldMk cId="3365202999" sldId="291"/>
        </pc:sldMkLst>
      </pc:sldChg>
      <pc:sldChg chg="new del">
        <pc:chgData name="Facundo Bosch" userId="58229a8a99125e28" providerId="LiveId" clId="{CF27E628-3BF0-4823-ACFC-2CE4B8912D0E}" dt="2025-08-05T15:26:25.510" v="1517" actId="47"/>
        <pc:sldMkLst>
          <pc:docMk/>
          <pc:sldMk cId="769144974" sldId="292"/>
        </pc:sldMkLst>
      </pc:sldChg>
      <pc:sldChg chg="addSp delSp modSp add mod ord">
        <pc:chgData name="Facundo Bosch" userId="58229a8a99125e28" providerId="LiveId" clId="{CF27E628-3BF0-4823-ACFC-2CE4B8912D0E}" dt="2025-08-05T15:07:49.026" v="316" actId="1076"/>
        <pc:sldMkLst>
          <pc:docMk/>
          <pc:sldMk cId="2070269500" sldId="293"/>
        </pc:sldMkLst>
      </pc:sldChg>
      <pc:sldChg chg="new del">
        <pc:chgData name="Facundo Bosch" userId="58229a8a99125e28" providerId="LiveId" clId="{CF27E628-3BF0-4823-ACFC-2CE4B8912D0E}" dt="2025-08-05T15:01:33.502" v="166" actId="47"/>
        <pc:sldMkLst>
          <pc:docMk/>
          <pc:sldMk cId="884801330" sldId="294"/>
        </pc:sldMkLst>
      </pc:sldChg>
      <pc:sldChg chg="addSp modSp add mod ord">
        <pc:chgData name="Facundo Bosch" userId="58229a8a99125e28" providerId="LiveId" clId="{CF27E628-3BF0-4823-ACFC-2CE4B8912D0E}" dt="2025-08-05T15:26:36.053" v="1520" actId="207"/>
        <pc:sldMkLst>
          <pc:docMk/>
          <pc:sldMk cId="549718314" sldId="295"/>
        </pc:sldMkLst>
      </pc:sldChg>
      <pc:sldChg chg="addSp delSp modSp add mod">
        <pc:chgData name="Facundo Bosch" userId="58229a8a99125e28" providerId="LiveId" clId="{CF27E628-3BF0-4823-ACFC-2CE4B8912D0E}" dt="2025-08-05T15:26:39.913" v="1521" actId="207"/>
        <pc:sldMkLst>
          <pc:docMk/>
          <pc:sldMk cId="24769437" sldId="296"/>
        </pc:sldMkLst>
      </pc:sldChg>
      <pc:sldChg chg="addSp delSp modSp add mod">
        <pc:chgData name="Facundo Bosch" userId="58229a8a99125e28" providerId="LiveId" clId="{CF27E628-3BF0-4823-ACFC-2CE4B8912D0E}" dt="2025-08-05T15:26:33.690" v="1519" actId="207"/>
        <pc:sldMkLst>
          <pc:docMk/>
          <pc:sldMk cId="2019166762" sldId="297"/>
        </pc:sldMkLst>
      </pc:sldChg>
      <pc:sldChg chg="addSp delSp modSp add mod">
        <pc:chgData name="Facundo Bosch" userId="58229a8a99125e28" providerId="LiveId" clId="{CF27E628-3BF0-4823-ACFC-2CE4B8912D0E}" dt="2025-08-05T15:26:31.001" v="1518" actId="207"/>
        <pc:sldMkLst>
          <pc:docMk/>
          <pc:sldMk cId="1224471509" sldId="298"/>
        </pc:sldMkLst>
      </pc:sldChg>
      <pc:sldChg chg="addSp delSp modSp add mod">
        <pc:chgData name="Facundo Bosch" userId="58229a8a99125e28" providerId="LiveId" clId="{CF27E628-3BF0-4823-ACFC-2CE4B8912D0E}" dt="2025-08-05T15:38:01.604" v="1635" actId="113"/>
        <pc:sldMkLst>
          <pc:docMk/>
          <pc:sldMk cId="1356377977" sldId="299"/>
        </pc:sldMkLst>
      </pc:sldChg>
      <pc:sldChg chg="addSp delSp modSp add del mod">
        <pc:chgData name="Facundo Bosch" userId="58229a8a99125e28" providerId="LiveId" clId="{CF27E628-3BF0-4823-ACFC-2CE4B8912D0E}" dt="2025-08-05T15:34:44.082" v="1583" actId="47"/>
        <pc:sldMkLst>
          <pc:docMk/>
          <pc:sldMk cId="1499083355" sldId="300"/>
        </pc:sldMkLst>
      </pc:sldChg>
      <pc:sldMasterChg chg="delSldLayout">
        <pc:chgData name="Facundo Bosch" userId="58229a8a99125e28" providerId="LiveId" clId="{CF27E628-3BF0-4823-ACFC-2CE4B8912D0E}" dt="2025-08-05T15:26:25.510" v="1517" actId="47"/>
        <pc:sldMasterMkLst>
          <pc:docMk/>
          <pc:sldMasterMk cId="0" sldId="2147483659"/>
        </pc:sldMasterMkLst>
        <pc:sldLayoutChg chg="del">
          <pc:chgData name="Facundo Bosch" userId="58229a8a99125e28" providerId="LiveId" clId="{CF27E628-3BF0-4823-ACFC-2CE4B8912D0E}" dt="2025-08-05T15:26:25.510" v="1517" actId="47"/>
          <pc:sldLayoutMkLst>
            <pc:docMk/>
            <pc:sldMasterMk cId="0" sldId="2147483659"/>
            <pc:sldLayoutMk cId="0" sldId="2147483651"/>
          </pc:sldLayoutMkLst>
        </pc:sldLayoutChg>
      </pc:sldMasterChg>
    </pc:docChg>
  </pc:docChgLst>
  <pc:docChgLst>
    <pc:chgData name="Facundo Bosch" userId="58229a8a99125e28" providerId="LiveId" clId="{A8BC558F-4B81-472C-B1EB-BEE9AD61D7D3}"/>
    <pc:docChg chg="undo custSel addSld delSld modSld">
      <pc:chgData name="Facundo Bosch" userId="58229a8a99125e28" providerId="LiveId" clId="{A8BC558F-4B81-472C-B1EB-BEE9AD61D7D3}" dt="2025-09-26T08:19:42.969" v="1347" actId="113"/>
      <pc:docMkLst>
        <pc:docMk/>
      </pc:docMkLst>
      <pc:sldChg chg="new del">
        <pc:chgData name="Facundo Bosch" userId="58229a8a99125e28" providerId="LiveId" clId="{A8BC558F-4B81-472C-B1EB-BEE9AD61D7D3}" dt="2025-09-26T08:03:00.522" v="742" actId="47"/>
        <pc:sldMkLst>
          <pc:docMk/>
          <pc:sldMk cId="35811724" sldId="300"/>
        </pc:sldMkLst>
      </pc:sldChg>
      <pc:sldChg chg="addSp delSp modSp add mod">
        <pc:chgData name="Facundo Bosch" userId="58229a8a99125e28" providerId="LiveId" clId="{A8BC558F-4B81-472C-B1EB-BEE9AD61D7D3}" dt="2025-09-26T07:45:33.671" v="96" actId="12"/>
        <pc:sldMkLst>
          <pc:docMk/>
          <pc:sldMk cId="2390947847" sldId="301"/>
        </pc:sldMkLst>
        <pc:spChg chg="add del mod">
          <ac:chgData name="Facundo Bosch" userId="58229a8a99125e28" providerId="LiveId" clId="{A8BC558F-4B81-472C-B1EB-BEE9AD61D7D3}" dt="2025-09-26T07:39:42.267" v="36" actId="478"/>
          <ac:spMkLst>
            <pc:docMk/>
            <pc:sldMk cId="2390947847" sldId="301"/>
            <ac:spMk id="3" creationId="{E523BB95-2509-EA4D-AFCA-7E4A854FE157}"/>
          </ac:spMkLst>
        </pc:spChg>
        <pc:spChg chg="del">
          <ac:chgData name="Facundo Bosch" userId="58229a8a99125e28" providerId="LiveId" clId="{A8BC558F-4B81-472C-B1EB-BEE9AD61D7D3}" dt="2025-09-26T07:38:38.175" v="2" actId="478"/>
          <ac:spMkLst>
            <pc:docMk/>
            <pc:sldMk cId="2390947847" sldId="301"/>
            <ac:spMk id="4" creationId="{1E9FDF83-529D-5852-3A9A-E702870EBA69}"/>
          </ac:spMkLst>
        </pc:spChg>
        <pc:spChg chg="add del mod">
          <ac:chgData name="Facundo Bosch" userId="58229a8a99125e28" providerId="LiveId" clId="{A8BC558F-4B81-472C-B1EB-BEE9AD61D7D3}" dt="2025-09-26T07:41:05.509" v="39"/>
          <ac:spMkLst>
            <pc:docMk/>
            <pc:sldMk cId="2390947847" sldId="301"/>
            <ac:spMk id="5" creationId="{1F64AD28-6E6C-5542-599B-2A8909A8AAC3}"/>
          </ac:spMkLst>
        </pc:spChg>
        <pc:spChg chg="add mod">
          <ac:chgData name="Facundo Bosch" userId="58229a8a99125e28" providerId="LiveId" clId="{A8BC558F-4B81-472C-B1EB-BEE9AD61D7D3}" dt="2025-09-26T07:44:46.667" v="79" actId="114"/>
          <ac:spMkLst>
            <pc:docMk/>
            <pc:sldMk cId="2390947847" sldId="301"/>
            <ac:spMk id="6" creationId="{C0736F1C-62CC-AF41-A3C1-ABF5E931AAD7}"/>
          </ac:spMkLst>
        </pc:spChg>
        <pc:spChg chg="add">
          <ac:chgData name="Facundo Bosch" userId="58229a8a99125e28" providerId="LiveId" clId="{A8BC558F-4B81-472C-B1EB-BEE9AD61D7D3}" dt="2025-09-26T07:42:38.774" v="43"/>
          <ac:spMkLst>
            <pc:docMk/>
            <pc:sldMk cId="2390947847" sldId="301"/>
            <ac:spMk id="7" creationId="{9BD5D933-FD91-7039-E776-A428D7B0E90B}"/>
          </ac:spMkLst>
        </pc:spChg>
        <pc:spChg chg="add">
          <ac:chgData name="Facundo Bosch" userId="58229a8a99125e28" providerId="LiveId" clId="{A8BC558F-4B81-472C-B1EB-BEE9AD61D7D3}" dt="2025-09-26T07:42:38.774" v="43"/>
          <ac:spMkLst>
            <pc:docMk/>
            <pc:sldMk cId="2390947847" sldId="301"/>
            <ac:spMk id="8" creationId="{0C78852F-EFC3-C560-7F60-12FE80EBFA3F}"/>
          </ac:spMkLst>
        </pc:spChg>
        <pc:spChg chg="add">
          <ac:chgData name="Facundo Bosch" userId="58229a8a99125e28" providerId="LiveId" clId="{A8BC558F-4B81-472C-B1EB-BEE9AD61D7D3}" dt="2025-09-26T07:42:38.774" v="43"/>
          <ac:spMkLst>
            <pc:docMk/>
            <pc:sldMk cId="2390947847" sldId="301"/>
            <ac:spMk id="9" creationId="{0C402056-DC00-7FDE-5E14-9DB36FE6956A}"/>
          </ac:spMkLst>
        </pc:spChg>
        <pc:spChg chg="add">
          <ac:chgData name="Facundo Bosch" userId="58229a8a99125e28" providerId="LiveId" clId="{A8BC558F-4B81-472C-B1EB-BEE9AD61D7D3}" dt="2025-09-26T07:42:38.774" v="43"/>
          <ac:spMkLst>
            <pc:docMk/>
            <pc:sldMk cId="2390947847" sldId="301"/>
            <ac:spMk id="10" creationId="{B82FC62C-BF1F-3FA1-B8DF-F6C254476C19}"/>
          </ac:spMkLst>
        </pc:spChg>
        <pc:spChg chg="add">
          <ac:chgData name="Facundo Bosch" userId="58229a8a99125e28" providerId="LiveId" clId="{A8BC558F-4B81-472C-B1EB-BEE9AD61D7D3}" dt="2025-09-26T07:42:38.774" v="43"/>
          <ac:spMkLst>
            <pc:docMk/>
            <pc:sldMk cId="2390947847" sldId="301"/>
            <ac:spMk id="11" creationId="{19C284DF-79A3-FAF8-FC21-6D269E01C779}"/>
          </ac:spMkLst>
        </pc:spChg>
        <pc:spChg chg="add">
          <ac:chgData name="Facundo Bosch" userId="58229a8a99125e28" providerId="LiveId" clId="{A8BC558F-4B81-472C-B1EB-BEE9AD61D7D3}" dt="2025-09-26T07:42:38.774" v="43"/>
          <ac:spMkLst>
            <pc:docMk/>
            <pc:sldMk cId="2390947847" sldId="301"/>
            <ac:spMk id="12" creationId="{9948028C-6551-97F1-45C7-620420B26931}"/>
          </ac:spMkLst>
        </pc:spChg>
        <pc:spChg chg="add">
          <ac:chgData name="Facundo Bosch" userId="58229a8a99125e28" providerId="LiveId" clId="{A8BC558F-4B81-472C-B1EB-BEE9AD61D7D3}" dt="2025-09-26T07:42:38.774" v="43"/>
          <ac:spMkLst>
            <pc:docMk/>
            <pc:sldMk cId="2390947847" sldId="301"/>
            <ac:spMk id="13" creationId="{4C01028C-C1BA-067C-7F81-7A6B39C52961}"/>
          </ac:spMkLst>
        </pc:spChg>
        <pc:spChg chg="add">
          <ac:chgData name="Facundo Bosch" userId="58229a8a99125e28" providerId="LiveId" clId="{A8BC558F-4B81-472C-B1EB-BEE9AD61D7D3}" dt="2025-09-26T07:42:38.774" v="43"/>
          <ac:spMkLst>
            <pc:docMk/>
            <pc:sldMk cId="2390947847" sldId="301"/>
            <ac:spMk id="14" creationId="{6D6582C5-5AC0-5ED7-95D5-A45D28BA2C07}"/>
          </ac:spMkLst>
        </pc:spChg>
        <pc:spChg chg="add">
          <ac:chgData name="Facundo Bosch" userId="58229a8a99125e28" providerId="LiveId" clId="{A8BC558F-4B81-472C-B1EB-BEE9AD61D7D3}" dt="2025-09-26T07:42:38.774" v="43"/>
          <ac:spMkLst>
            <pc:docMk/>
            <pc:sldMk cId="2390947847" sldId="301"/>
            <ac:spMk id="15" creationId="{92503EC7-64A8-2179-5A4F-5410E069657F}"/>
          </ac:spMkLst>
        </pc:spChg>
        <pc:spChg chg="add">
          <ac:chgData name="Facundo Bosch" userId="58229a8a99125e28" providerId="LiveId" clId="{A8BC558F-4B81-472C-B1EB-BEE9AD61D7D3}" dt="2025-09-26T07:42:47.121" v="46"/>
          <ac:spMkLst>
            <pc:docMk/>
            <pc:sldMk cId="2390947847" sldId="301"/>
            <ac:spMk id="16" creationId="{0E06E5AC-4773-F830-ADCF-F352D9E81E39}"/>
          </ac:spMkLst>
        </pc:spChg>
        <pc:spChg chg="add">
          <ac:chgData name="Facundo Bosch" userId="58229a8a99125e28" providerId="LiveId" clId="{A8BC558F-4B81-472C-B1EB-BEE9AD61D7D3}" dt="2025-09-26T07:42:47.121" v="46"/>
          <ac:spMkLst>
            <pc:docMk/>
            <pc:sldMk cId="2390947847" sldId="301"/>
            <ac:spMk id="17" creationId="{D17637AB-E045-CB56-8736-E13728F8ACD4}"/>
          </ac:spMkLst>
        </pc:spChg>
        <pc:spChg chg="add">
          <ac:chgData name="Facundo Bosch" userId="58229a8a99125e28" providerId="LiveId" clId="{A8BC558F-4B81-472C-B1EB-BEE9AD61D7D3}" dt="2025-09-26T07:42:47.121" v="46"/>
          <ac:spMkLst>
            <pc:docMk/>
            <pc:sldMk cId="2390947847" sldId="301"/>
            <ac:spMk id="18" creationId="{75E47455-9992-E7BA-D0B9-B0B1C5A20F9A}"/>
          </ac:spMkLst>
        </pc:spChg>
        <pc:spChg chg="add">
          <ac:chgData name="Facundo Bosch" userId="58229a8a99125e28" providerId="LiveId" clId="{A8BC558F-4B81-472C-B1EB-BEE9AD61D7D3}" dt="2025-09-26T07:42:47.121" v="46"/>
          <ac:spMkLst>
            <pc:docMk/>
            <pc:sldMk cId="2390947847" sldId="301"/>
            <ac:spMk id="19" creationId="{C450B423-3245-0585-E65D-7D81EAB322F9}"/>
          </ac:spMkLst>
        </pc:spChg>
        <pc:spChg chg="add">
          <ac:chgData name="Facundo Bosch" userId="58229a8a99125e28" providerId="LiveId" clId="{A8BC558F-4B81-472C-B1EB-BEE9AD61D7D3}" dt="2025-09-26T07:42:47.121" v="46"/>
          <ac:spMkLst>
            <pc:docMk/>
            <pc:sldMk cId="2390947847" sldId="301"/>
            <ac:spMk id="20" creationId="{85766781-AEBA-7994-580E-0373F713B3CF}"/>
          </ac:spMkLst>
        </pc:spChg>
        <pc:spChg chg="add">
          <ac:chgData name="Facundo Bosch" userId="58229a8a99125e28" providerId="LiveId" clId="{A8BC558F-4B81-472C-B1EB-BEE9AD61D7D3}" dt="2025-09-26T07:42:47.121" v="46"/>
          <ac:spMkLst>
            <pc:docMk/>
            <pc:sldMk cId="2390947847" sldId="301"/>
            <ac:spMk id="21" creationId="{CA60DB49-F40F-BD13-BB48-A78DFD9FC575}"/>
          </ac:spMkLst>
        </pc:spChg>
        <pc:spChg chg="add">
          <ac:chgData name="Facundo Bosch" userId="58229a8a99125e28" providerId="LiveId" clId="{A8BC558F-4B81-472C-B1EB-BEE9AD61D7D3}" dt="2025-09-26T07:42:47.121" v="46"/>
          <ac:spMkLst>
            <pc:docMk/>
            <pc:sldMk cId="2390947847" sldId="301"/>
            <ac:spMk id="22" creationId="{3965C2B0-A012-9212-4068-EF25717892C4}"/>
          </ac:spMkLst>
        </pc:spChg>
        <pc:spChg chg="add">
          <ac:chgData name="Facundo Bosch" userId="58229a8a99125e28" providerId="LiveId" clId="{A8BC558F-4B81-472C-B1EB-BEE9AD61D7D3}" dt="2025-09-26T07:42:47.121" v="46"/>
          <ac:spMkLst>
            <pc:docMk/>
            <pc:sldMk cId="2390947847" sldId="301"/>
            <ac:spMk id="23" creationId="{1C116FE6-1239-6D06-920C-A7EAFD0D0DDC}"/>
          </ac:spMkLst>
        </pc:spChg>
        <pc:spChg chg="add mod">
          <ac:chgData name="Facundo Bosch" userId="58229a8a99125e28" providerId="LiveId" clId="{A8BC558F-4B81-472C-B1EB-BEE9AD61D7D3}" dt="2025-09-26T07:43:13.942" v="48" actId="6549"/>
          <ac:spMkLst>
            <pc:docMk/>
            <pc:sldMk cId="2390947847" sldId="301"/>
            <ac:spMk id="24" creationId="{5C72670E-29B2-9E94-ED01-6A02F72B4961}"/>
          </ac:spMkLst>
        </pc:spChg>
        <pc:spChg chg="add mod">
          <ac:chgData name="Facundo Bosch" userId="58229a8a99125e28" providerId="LiveId" clId="{A8BC558F-4B81-472C-B1EB-BEE9AD61D7D3}" dt="2025-09-26T07:44:15.973" v="63" actId="1076"/>
          <ac:spMkLst>
            <pc:docMk/>
            <pc:sldMk cId="2390947847" sldId="301"/>
            <ac:spMk id="25" creationId="{393E506C-8709-30FE-1980-00765172C0FA}"/>
          </ac:spMkLst>
        </pc:spChg>
        <pc:spChg chg="add mod">
          <ac:chgData name="Facundo Bosch" userId="58229a8a99125e28" providerId="LiveId" clId="{A8BC558F-4B81-472C-B1EB-BEE9AD61D7D3}" dt="2025-09-26T07:45:33.671" v="96" actId="12"/>
          <ac:spMkLst>
            <pc:docMk/>
            <pc:sldMk cId="2390947847" sldId="301"/>
            <ac:spMk id="26" creationId="{6B5FB9E5-0C85-1A38-B927-A7F011DDF6F3}"/>
          </ac:spMkLst>
        </pc:spChg>
        <pc:spChg chg="mod">
          <ac:chgData name="Facundo Bosch" userId="58229a8a99125e28" providerId="LiveId" clId="{A8BC558F-4B81-472C-B1EB-BEE9AD61D7D3}" dt="2025-09-26T07:39:32.920" v="33" actId="20577"/>
          <ac:spMkLst>
            <pc:docMk/>
            <pc:sldMk cId="2390947847" sldId="301"/>
            <ac:spMk id="155" creationId="{81F1D96C-C9F6-96C9-1ACF-7CE308CAE084}"/>
          </ac:spMkLst>
        </pc:spChg>
      </pc:sldChg>
      <pc:sldChg chg="addSp delSp modSp add mod">
        <pc:chgData name="Facundo Bosch" userId="58229a8a99125e28" providerId="LiveId" clId="{A8BC558F-4B81-472C-B1EB-BEE9AD61D7D3}" dt="2025-09-26T07:55:31.147" v="178" actId="1076"/>
        <pc:sldMkLst>
          <pc:docMk/>
          <pc:sldMk cId="462920700" sldId="302"/>
        </pc:sldMkLst>
        <pc:spChg chg="mod">
          <ac:chgData name="Facundo Bosch" userId="58229a8a99125e28" providerId="LiveId" clId="{A8BC558F-4B81-472C-B1EB-BEE9AD61D7D3}" dt="2025-09-26T07:50:55.408" v="168" actId="20577"/>
          <ac:spMkLst>
            <pc:docMk/>
            <pc:sldMk cId="462920700" sldId="302"/>
            <ac:spMk id="6" creationId="{5997F801-08D7-C78A-984A-AE7015B70C1D}"/>
          </ac:spMkLst>
        </pc:spChg>
        <pc:spChg chg="del">
          <ac:chgData name="Facundo Bosch" userId="58229a8a99125e28" providerId="LiveId" clId="{A8BC558F-4B81-472C-B1EB-BEE9AD61D7D3}" dt="2025-09-26T07:45:53.265" v="98" actId="478"/>
          <ac:spMkLst>
            <pc:docMk/>
            <pc:sldMk cId="462920700" sldId="302"/>
            <ac:spMk id="26" creationId="{5DD59A69-13BB-F6EA-8F25-5E07391785F1}"/>
          </ac:spMkLst>
        </pc:spChg>
        <pc:picChg chg="add del mod">
          <ac:chgData name="Facundo Bosch" userId="58229a8a99125e28" providerId="LiveId" clId="{A8BC558F-4B81-472C-B1EB-BEE9AD61D7D3}" dt="2025-09-26T07:54:27.162" v="173" actId="478"/>
          <ac:picMkLst>
            <pc:docMk/>
            <pc:sldMk cId="462920700" sldId="302"/>
            <ac:picMk id="4" creationId="{FB5BBA96-FB02-F7B9-CADE-C3A0F39F72AF}"/>
          </ac:picMkLst>
        </pc:picChg>
        <pc:picChg chg="add mod">
          <ac:chgData name="Facundo Bosch" userId="58229a8a99125e28" providerId="LiveId" clId="{A8BC558F-4B81-472C-B1EB-BEE9AD61D7D3}" dt="2025-09-26T07:55:31.147" v="178" actId="1076"/>
          <ac:picMkLst>
            <pc:docMk/>
            <pc:sldMk cId="462920700" sldId="302"/>
            <ac:picMk id="7" creationId="{3EA4690B-6E4D-277C-230D-EAB6C1C7572B}"/>
          </ac:picMkLst>
        </pc:picChg>
      </pc:sldChg>
      <pc:sldChg chg="addSp delSp modSp add mod">
        <pc:chgData name="Facundo Bosch" userId="58229a8a99125e28" providerId="LiveId" clId="{A8BC558F-4B81-472C-B1EB-BEE9AD61D7D3}" dt="2025-09-26T08:04:11.332" v="749" actId="1076"/>
        <pc:sldMkLst>
          <pc:docMk/>
          <pc:sldMk cId="1685467900" sldId="303"/>
        </pc:sldMkLst>
        <pc:spChg chg="del">
          <ac:chgData name="Facundo Bosch" userId="58229a8a99125e28" providerId="LiveId" clId="{A8BC558F-4B81-472C-B1EB-BEE9AD61D7D3}" dt="2025-09-26T07:55:40.027" v="180" actId="478"/>
          <ac:spMkLst>
            <pc:docMk/>
            <pc:sldMk cId="1685467900" sldId="303"/>
            <ac:spMk id="6" creationId="{D93149B4-57BC-EAF3-D6C6-866BE6F50577}"/>
          </ac:spMkLst>
        </pc:spChg>
        <pc:spChg chg="add mod">
          <ac:chgData name="Facundo Bosch" userId="58229a8a99125e28" providerId="LiveId" clId="{A8BC558F-4B81-472C-B1EB-BEE9AD61D7D3}" dt="2025-09-26T07:58:39.631" v="590" actId="1076"/>
          <ac:spMkLst>
            <pc:docMk/>
            <pc:sldMk cId="1685467900" sldId="303"/>
            <ac:spMk id="11" creationId="{3BEBD665-E74F-421F-1A3C-9C2C0BA33CE9}"/>
          </ac:spMkLst>
        </pc:spChg>
        <pc:spChg chg="add mod">
          <ac:chgData name="Facundo Bosch" userId="58229a8a99125e28" providerId="LiveId" clId="{A8BC558F-4B81-472C-B1EB-BEE9AD61D7D3}" dt="2025-09-26T08:04:11.332" v="749" actId="1076"/>
          <ac:spMkLst>
            <pc:docMk/>
            <pc:sldMk cId="1685467900" sldId="303"/>
            <ac:spMk id="12" creationId="{2AB10787-AD82-24DA-2DF9-9C1999A7B661}"/>
          </ac:spMkLst>
        </pc:spChg>
        <pc:picChg chg="add mod">
          <ac:chgData name="Facundo Bosch" userId="58229a8a99125e28" providerId="LiveId" clId="{A8BC558F-4B81-472C-B1EB-BEE9AD61D7D3}" dt="2025-09-26T07:56:11.053" v="189" actId="1076"/>
          <ac:picMkLst>
            <pc:docMk/>
            <pc:sldMk cId="1685467900" sldId="303"/>
            <ac:picMk id="4" creationId="{EAF1DED3-32F9-EEBF-5458-8836AA194D1D}"/>
          </ac:picMkLst>
        </pc:picChg>
        <pc:picChg chg="del mod">
          <ac:chgData name="Facundo Bosch" userId="58229a8a99125e28" providerId="LiveId" clId="{A8BC558F-4B81-472C-B1EB-BEE9AD61D7D3}" dt="2025-09-26T07:56:09.330" v="188" actId="478"/>
          <ac:picMkLst>
            <pc:docMk/>
            <pc:sldMk cId="1685467900" sldId="303"/>
            <ac:picMk id="7" creationId="{35FC7CF8-D961-E4E5-A5A0-7E6C7ECD6C1A}"/>
          </ac:picMkLst>
        </pc:picChg>
        <pc:picChg chg="add mod">
          <ac:chgData name="Facundo Bosch" userId="58229a8a99125e28" providerId="LiveId" clId="{A8BC558F-4B81-472C-B1EB-BEE9AD61D7D3}" dt="2025-09-26T07:56:49.746" v="201" actId="1076"/>
          <ac:picMkLst>
            <pc:docMk/>
            <pc:sldMk cId="1685467900" sldId="303"/>
            <ac:picMk id="8" creationId="{0A5E503F-92DA-08E1-B54E-0B32F261DA19}"/>
          </ac:picMkLst>
        </pc:picChg>
        <pc:picChg chg="add mod">
          <ac:chgData name="Facundo Bosch" userId="58229a8a99125e28" providerId="LiveId" clId="{A8BC558F-4B81-472C-B1EB-BEE9AD61D7D3}" dt="2025-09-26T07:56:48.135" v="200" actId="1076"/>
          <ac:picMkLst>
            <pc:docMk/>
            <pc:sldMk cId="1685467900" sldId="303"/>
            <ac:picMk id="10" creationId="{9DE754A1-204F-D69A-A493-9F318B2D24DE}"/>
          </ac:picMkLst>
        </pc:picChg>
      </pc:sldChg>
      <pc:sldChg chg="add del">
        <pc:chgData name="Facundo Bosch" userId="58229a8a99125e28" providerId="LiveId" clId="{A8BC558F-4B81-472C-B1EB-BEE9AD61D7D3}" dt="2025-09-26T08:03:01.323" v="743" actId="47"/>
        <pc:sldMkLst>
          <pc:docMk/>
          <pc:sldMk cId="86365685" sldId="304"/>
        </pc:sldMkLst>
      </pc:sldChg>
      <pc:sldChg chg="addSp delSp modSp add mod">
        <pc:chgData name="Facundo Bosch" userId="58229a8a99125e28" providerId="LiveId" clId="{A8BC558F-4B81-472C-B1EB-BEE9AD61D7D3}" dt="2025-09-26T08:06:07.448" v="1050" actId="20577"/>
        <pc:sldMkLst>
          <pc:docMk/>
          <pc:sldMk cId="1263034178" sldId="305"/>
        </pc:sldMkLst>
        <pc:spChg chg="add mod">
          <ac:chgData name="Facundo Bosch" userId="58229a8a99125e28" providerId="LiveId" clId="{A8BC558F-4B81-472C-B1EB-BEE9AD61D7D3}" dt="2025-09-26T08:01:30.276" v="733" actId="20577"/>
          <ac:spMkLst>
            <pc:docMk/>
            <pc:sldMk cId="1263034178" sldId="305"/>
            <ac:spMk id="3" creationId="{B3DB3289-F264-B136-EE56-F81E2CF65885}"/>
          </ac:spMkLst>
        </pc:spChg>
        <pc:spChg chg="del">
          <ac:chgData name="Facundo Bosch" userId="58229a8a99125e28" providerId="LiveId" clId="{A8BC558F-4B81-472C-B1EB-BEE9AD61D7D3}" dt="2025-09-26T07:59:48.249" v="670" actId="478"/>
          <ac:spMkLst>
            <pc:docMk/>
            <pc:sldMk cId="1263034178" sldId="305"/>
            <ac:spMk id="11" creationId="{FE45FB72-A51F-BAAD-0539-911ED042F9AD}"/>
          </ac:spMkLst>
        </pc:spChg>
        <pc:spChg chg="add mod">
          <ac:chgData name="Facundo Bosch" userId="58229a8a99125e28" providerId="LiveId" clId="{A8BC558F-4B81-472C-B1EB-BEE9AD61D7D3}" dt="2025-09-26T08:04:24.965" v="753" actId="1076"/>
          <ac:spMkLst>
            <pc:docMk/>
            <pc:sldMk cId="1263034178" sldId="305"/>
            <ac:spMk id="12" creationId="{8C7E56B2-41CC-8C75-24A6-AC5E0E795910}"/>
          </ac:spMkLst>
        </pc:spChg>
        <pc:spChg chg="add mod">
          <ac:chgData name="Facundo Bosch" userId="58229a8a99125e28" providerId="LiveId" clId="{A8BC558F-4B81-472C-B1EB-BEE9AD61D7D3}" dt="2025-09-26T08:06:07.448" v="1050" actId="20577"/>
          <ac:spMkLst>
            <pc:docMk/>
            <pc:sldMk cId="1263034178" sldId="305"/>
            <ac:spMk id="13" creationId="{6664AE3F-CCA8-CA33-F2DE-F5D066B8C5F5}"/>
          </ac:spMkLst>
        </pc:spChg>
        <pc:spChg chg="mod">
          <ac:chgData name="Facundo Bosch" userId="58229a8a99125e28" providerId="LiveId" clId="{A8BC558F-4B81-472C-B1EB-BEE9AD61D7D3}" dt="2025-09-26T07:59:51.933" v="672" actId="1076"/>
          <ac:spMkLst>
            <pc:docMk/>
            <pc:sldMk cId="1263034178" sldId="305"/>
            <ac:spMk id="25" creationId="{11C01839-CFBF-A34B-CBC1-BF262BA00344}"/>
          </ac:spMkLst>
        </pc:spChg>
        <pc:spChg chg="mod">
          <ac:chgData name="Facundo Bosch" userId="58229a8a99125e28" providerId="LiveId" clId="{A8BC558F-4B81-472C-B1EB-BEE9AD61D7D3}" dt="2025-09-26T07:59:02.738" v="624" actId="20577"/>
          <ac:spMkLst>
            <pc:docMk/>
            <pc:sldMk cId="1263034178" sldId="305"/>
            <ac:spMk id="155" creationId="{14BFB5DB-409C-1804-F803-5496CAFCD18E}"/>
          </ac:spMkLst>
        </pc:spChg>
        <pc:picChg chg="del">
          <ac:chgData name="Facundo Bosch" userId="58229a8a99125e28" providerId="LiveId" clId="{A8BC558F-4B81-472C-B1EB-BEE9AD61D7D3}" dt="2025-09-26T07:59:46.004" v="667" actId="478"/>
          <ac:picMkLst>
            <pc:docMk/>
            <pc:sldMk cId="1263034178" sldId="305"/>
            <ac:picMk id="4" creationId="{8BE5C645-178E-54B1-CB27-4C89C129AE30}"/>
          </ac:picMkLst>
        </pc:picChg>
        <pc:picChg chg="add mod">
          <ac:chgData name="Facundo Bosch" userId="58229a8a99125e28" providerId="LiveId" clId="{A8BC558F-4B81-472C-B1EB-BEE9AD61D7D3}" dt="2025-09-26T08:01:58.222" v="741" actId="1076"/>
          <ac:picMkLst>
            <pc:docMk/>
            <pc:sldMk cId="1263034178" sldId="305"/>
            <ac:picMk id="6" creationId="{42844E0E-1389-0AC2-E6CE-40FC977241B2}"/>
          </ac:picMkLst>
        </pc:picChg>
        <pc:picChg chg="del">
          <ac:chgData name="Facundo Bosch" userId="58229a8a99125e28" providerId="LiveId" clId="{A8BC558F-4B81-472C-B1EB-BEE9AD61D7D3}" dt="2025-09-26T07:59:46.355" v="668" actId="478"/>
          <ac:picMkLst>
            <pc:docMk/>
            <pc:sldMk cId="1263034178" sldId="305"/>
            <ac:picMk id="8" creationId="{4582C589-0661-8A63-6088-242A14824B50}"/>
          </ac:picMkLst>
        </pc:picChg>
        <pc:picChg chg="add mod">
          <ac:chgData name="Facundo Bosch" userId="58229a8a99125e28" providerId="LiveId" clId="{A8BC558F-4B81-472C-B1EB-BEE9AD61D7D3}" dt="2025-09-26T08:01:55.401" v="740" actId="14100"/>
          <ac:picMkLst>
            <pc:docMk/>
            <pc:sldMk cId="1263034178" sldId="305"/>
            <ac:picMk id="9" creationId="{2B6C8D6A-F04A-E405-5907-D53C4E06ED3F}"/>
          </ac:picMkLst>
        </pc:picChg>
        <pc:picChg chg="del">
          <ac:chgData name="Facundo Bosch" userId="58229a8a99125e28" providerId="LiveId" clId="{A8BC558F-4B81-472C-B1EB-BEE9AD61D7D3}" dt="2025-09-26T07:59:47.034" v="669" actId="478"/>
          <ac:picMkLst>
            <pc:docMk/>
            <pc:sldMk cId="1263034178" sldId="305"/>
            <ac:picMk id="10" creationId="{47A27E41-521E-0832-A40C-BA899E4CB7F7}"/>
          </ac:picMkLst>
        </pc:picChg>
      </pc:sldChg>
      <pc:sldChg chg="addSp delSp modSp add mod">
        <pc:chgData name="Facundo Bosch" userId="58229a8a99125e28" providerId="LiveId" clId="{A8BC558F-4B81-472C-B1EB-BEE9AD61D7D3}" dt="2025-09-26T08:08:31.647" v="1287" actId="20577"/>
        <pc:sldMkLst>
          <pc:docMk/>
          <pc:sldMk cId="65684731" sldId="306"/>
        </pc:sldMkLst>
        <pc:spChg chg="mod">
          <ac:chgData name="Facundo Bosch" userId="58229a8a99125e28" providerId="LiveId" clId="{A8BC558F-4B81-472C-B1EB-BEE9AD61D7D3}" dt="2025-09-26T08:06:30.394" v="1081" actId="108"/>
          <ac:spMkLst>
            <pc:docMk/>
            <pc:sldMk cId="65684731" sldId="306"/>
            <ac:spMk id="3" creationId="{55719086-712D-88FF-3847-3D060A4E9D11}"/>
          </ac:spMkLst>
        </pc:spChg>
        <pc:spChg chg="del">
          <ac:chgData name="Facundo Bosch" userId="58229a8a99125e28" providerId="LiveId" clId="{A8BC558F-4B81-472C-B1EB-BEE9AD61D7D3}" dt="2025-09-26T08:07:34.848" v="1096" actId="478"/>
          <ac:spMkLst>
            <pc:docMk/>
            <pc:sldMk cId="65684731" sldId="306"/>
            <ac:spMk id="12" creationId="{5703E8EE-319E-33A2-812C-7DBCC0E00A6E}"/>
          </ac:spMkLst>
        </pc:spChg>
        <pc:spChg chg="mod">
          <ac:chgData name="Facundo Bosch" userId="58229a8a99125e28" providerId="LiveId" clId="{A8BC558F-4B81-472C-B1EB-BEE9AD61D7D3}" dt="2025-09-26T08:08:31.647" v="1287" actId="20577"/>
          <ac:spMkLst>
            <pc:docMk/>
            <pc:sldMk cId="65684731" sldId="306"/>
            <ac:spMk id="13" creationId="{F7B2C11F-C719-898B-059F-F19329EE06D6}"/>
          </ac:spMkLst>
        </pc:spChg>
        <pc:picChg chg="add mod">
          <ac:chgData name="Facundo Bosch" userId="58229a8a99125e28" providerId="LiveId" clId="{A8BC558F-4B81-472C-B1EB-BEE9AD61D7D3}" dt="2025-09-26T08:06:59.603" v="1086" actId="1076"/>
          <ac:picMkLst>
            <pc:docMk/>
            <pc:sldMk cId="65684731" sldId="306"/>
            <ac:picMk id="5" creationId="{21ED8CC8-7BB1-5141-064D-2991C6BCACED}"/>
          </ac:picMkLst>
        </pc:picChg>
        <pc:picChg chg="del">
          <ac:chgData name="Facundo Bosch" userId="58229a8a99125e28" providerId="LiveId" clId="{A8BC558F-4B81-472C-B1EB-BEE9AD61D7D3}" dt="2025-09-26T08:06:51.098" v="1082" actId="478"/>
          <ac:picMkLst>
            <pc:docMk/>
            <pc:sldMk cId="65684731" sldId="306"/>
            <ac:picMk id="6" creationId="{C9232243-708D-99DB-7613-7BF6597C865D}"/>
          </ac:picMkLst>
        </pc:picChg>
        <pc:picChg chg="add mod">
          <ac:chgData name="Facundo Bosch" userId="58229a8a99125e28" providerId="LiveId" clId="{A8BC558F-4B81-472C-B1EB-BEE9AD61D7D3}" dt="2025-09-26T08:07:29.762" v="1095" actId="1076"/>
          <ac:picMkLst>
            <pc:docMk/>
            <pc:sldMk cId="65684731" sldId="306"/>
            <ac:picMk id="8" creationId="{DF283719-E106-41D6-14A4-1CFCF9BA350C}"/>
          </ac:picMkLst>
        </pc:picChg>
        <pc:picChg chg="del">
          <ac:chgData name="Facundo Bosch" userId="58229a8a99125e28" providerId="LiveId" clId="{A8BC558F-4B81-472C-B1EB-BEE9AD61D7D3}" dt="2025-09-26T08:06:51.580" v="1083" actId="478"/>
          <ac:picMkLst>
            <pc:docMk/>
            <pc:sldMk cId="65684731" sldId="306"/>
            <ac:picMk id="9" creationId="{B6CDB109-79EC-D18D-B42D-8525325A6525}"/>
          </ac:picMkLst>
        </pc:picChg>
      </pc:sldChg>
      <pc:sldChg chg="new del">
        <pc:chgData name="Facundo Bosch" userId="58229a8a99125e28" providerId="LiveId" clId="{A8BC558F-4B81-472C-B1EB-BEE9AD61D7D3}" dt="2025-09-26T08:18:16.932" v="1290" actId="47"/>
        <pc:sldMkLst>
          <pc:docMk/>
          <pc:sldMk cId="1896081170" sldId="307"/>
        </pc:sldMkLst>
      </pc:sldChg>
      <pc:sldChg chg="delSp modSp add mod">
        <pc:chgData name="Facundo Bosch" userId="58229a8a99125e28" providerId="LiveId" clId="{A8BC558F-4B81-472C-B1EB-BEE9AD61D7D3}" dt="2025-09-26T08:19:42.969" v="1347" actId="113"/>
        <pc:sldMkLst>
          <pc:docMk/>
          <pc:sldMk cId="388345922" sldId="308"/>
        </pc:sldMkLst>
        <pc:spChg chg="mod">
          <ac:chgData name="Facundo Bosch" userId="58229a8a99125e28" providerId="LiveId" clId="{A8BC558F-4B81-472C-B1EB-BEE9AD61D7D3}" dt="2025-09-26T08:19:42.969" v="1347" actId="113"/>
          <ac:spMkLst>
            <pc:docMk/>
            <pc:sldMk cId="388345922" sldId="308"/>
            <ac:spMk id="3" creationId="{ABB473DA-3CB3-8D9E-EA44-0C4AED885348}"/>
          </ac:spMkLst>
        </pc:spChg>
        <pc:spChg chg="del">
          <ac:chgData name="Facundo Bosch" userId="58229a8a99125e28" providerId="LiveId" clId="{A8BC558F-4B81-472C-B1EB-BEE9AD61D7D3}" dt="2025-09-26T08:18:33.385" v="1314" actId="478"/>
          <ac:spMkLst>
            <pc:docMk/>
            <pc:sldMk cId="388345922" sldId="308"/>
            <ac:spMk id="13" creationId="{6BE5CF4A-92F6-4403-A9B1-69B368B3021D}"/>
          </ac:spMkLst>
        </pc:spChg>
        <pc:spChg chg="del mod">
          <ac:chgData name="Facundo Bosch" userId="58229a8a99125e28" providerId="LiveId" clId="{A8BC558F-4B81-472C-B1EB-BEE9AD61D7D3}" dt="2025-09-26T08:18:28.047" v="1311"/>
          <ac:spMkLst>
            <pc:docMk/>
            <pc:sldMk cId="388345922" sldId="308"/>
            <ac:spMk id="25" creationId="{D797B668-4CA7-778C-58B9-A747EE46EC8D}"/>
          </ac:spMkLst>
        </pc:spChg>
        <pc:spChg chg="mod">
          <ac:chgData name="Facundo Bosch" userId="58229a8a99125e28" providerId="LiveId" clId="{A8BC558F-4B81-472C-B1EB-BEE9AD61D7D3}" dt="2025-09-26T08:18:21.792" v="1306" actId="20577"/>
          <ac:spMkLst>
            <pc:docMk/>
            <pc:sldMk cId="388345922" sldId="308"/>
            <ac:spMk id="155" creationId="{06703FD7-00F7-39E9-3B31-1B03785E4B7F}"/>
          </ac:spMkLst>
        </pc:spChg>
        <pc:picChg chg="del mod">
          <ac:chgData name="Facundo Bosch" userId="58229a8a99125e28" providerId="LiveId" clId="{A8BC558F-4B81-472C-B1EB-BEE9AD61D7D3}" dt="2025-09-26T08:18:28.046" v="1309" actId="478"/>
          <ac:picMkLst>
            <pc:docMk/>
            <pc:sldMk cId="388345922" sldId="308"/>
            <ac:picMk id="5" creationId="{9ACE7F2C-1722-4C50-86B3-696BB2148FB2}"/>
          </ac:picMkLst>
        </pc:picChg>
        <pc:picChg chg="del mod">
          <ac:chgData name="Facundo Bosch" userId="58229a8a99125e28" providerId="LiveId" clId="{A8BC558F-4B81-472C-B1EB-BEE9AD61D7D3}" dt="2025-09-26T08:18:28.436" v="1313" actId="478"/>
          <ac:picMkLst>
            <pc:docMk/>
            <pc:sldMk cId="388345922" sldId="308"/>
            <ac:picMk id="8" creationId="{D6E06000-F9A9-C2ED-8C80-DD1B53B99B7C}"/>
          </ac:picMkLst>
        </pc:picChg>
      </pc:sldChg>
      <pc:sldChg chg="add del">
        <pc:chgData name="Facundo Bosch" userId="58229a8a99125e28" providerId="LiveId" clId="{A8BC558F-4B81-472C-B1EB-BEE9AD61D7D3}" dt="2025-09-26T08:18:41.830" v="1318"/>
        <pc:sldMkLst>
          <pc:docMk/>
          <pc:sldMk cId="2471173695" sldId="309"/>
        </pc:sldMkLst>
      </pc:sldChg>
      <pc:sldMasterChg chg="delSldLayout">
        <pc:chgData name="Facundo Bosch" userId="58229a8a99125e28" providerId="LiveId" clId="{A8BC558F-4B81-472C-B1EB-BEE9AD61D7D3}" dt="2025-09-26T08:18:16.932" v="1290" actId="47"/>
        <pc:sldMasterMkLst>
          <pc:docMk/>
          <pc:sldMasterMk cId="0" sldId="2147483659"/>
        </pc:sldMasterMkLst>
        <pc:sldLayoutChg chg="del">
          <pc:chgData name="Facundo Bosch" userId="58229a8a99125e28" providerId="LiveId" clId="{A8BC558F-4B81-472C-B1EB-BEE9AD61D7D3}" dt="2025-09-26T08:03:01.323" v="743" actId="47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Facundo Bosch" userId="58229a8a99125e28" providerId="LiveId" clId="{A8BC558F-4B81-472C-B1EB-BEE9AD61D7D3}" dt="2025-09-26T08:18:16.932" v="1290" actId="47"/>
          <pc:sldLayoutMkLst>
            <pc:docMk/>
            <pc:sldMasterMk cId="0" sldId="2147483659"/>
            <pc:sldLayoutMk cId="0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6BAC9A7-92A1-0A08-8C4F-B84683F0E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31062AA5-1601-D9F5-CCEF-70FB1B1CB2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FBCC1A2E-3C52-3305-1681-78EA1435BD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7547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C660BC00-9594-E2DA-7FAD-914C664C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784D6C92-4856-8187-E712-205BC1F937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F1E330A7-5BAE-2B79-3460-C1CC98FA6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7549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255C3A9-D6A2-CD77-596F-E5FFABF1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18443545-B6FB-EEEC-FF3F-7CCBCF3298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E156BCDA-236C-23F3-5BE0-1D8BC17A1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191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7F012A23-6693-9D26-8184-87B785184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E9CEE8C9-D9F8-7BD6-3A09-26882F1368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9FBA00B1-F89E-5A66-348D-B1174A8119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7415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08A4650D-6E8D-719A-7203-6AFD5A01F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37B7E3E8-59FF-8B25-EE7C-692B23EF8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EBB9E039-E953-D4D7-F358-DBEFE885E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5454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1564352-36BC-50DA-FAAE-CD6F1B8E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D347B08F-4EBE-263E-6545-036ACD093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5BD0D3CB-4C82-C815-F4CC-48262C839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9734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7E047054-3194-9EE0-C0E0-74AF1277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71EE7F71-FF64-CF40-0ED4-9DD3AEC556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2C6598AE-0317-1BD4-C386-6E163F6B2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0468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C67DD32-0D36-8DA7-0692-619DE554D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997F7F8A-3F0D-182F-853B-0FDA633D8C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342CD903-543A-CD81-B5ED-C2637DA5D1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407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359D2AC3-8182-61EA-A594-EEC7B392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77B8BF0C-2AE1-FC3C-67C6-E7EB49BC5E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D6756691-D56D-0A0A-E935-061CF421D8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453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3AC34D06-EA75-098A-72B1-6F38A710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E95EE3CD-D5C2-3641-B047-DB20235CD5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FD0F73E0-EAB7-38E6-B975-3213D535E3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3619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38C3CA1-8FE3-B6F3-E6F8-9B6E9F4C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036615CB-1977-9174-26AF-801A1B61F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CF796CF1-EF9E-B977-1070-47D1A6A22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721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8879DFC5-F8D1-4EE8-DF37-B2C7829E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B1B6D633-078C-D73B-5BE0-A01DFBFB5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C4F09343-7BFC-FB38-3E51-171556D92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3494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38D368AF-0965-CCE7-1BDC-BBB2B151A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C73B1174-C06D-BAA0-ED7C-18F08B288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22CFF83F-D0CE-3AAF-E876-85F1A41750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760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AFEDBBD0-4B32-2099-797F-801F2D557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8C65E107-1070-97D4-8B0B-6F8D568E2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1E5099F5-6E5C-6A4E-F614-7150594D63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723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A9EED837-5F18-4E75-7A61-7071C7070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822F2DAC-B14A-D266-34B7-D406E0AEA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32DC7F6A-9954-EE9F-1FC0-6304C102CF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840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1887A03D-4CDD-0527-D1AF-56D8F7CE7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251A3721-F1BC-E87C-1396-E1448C5BF6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CE4D7E87-8867-4CEE-E21A-ED7EAE904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4510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001A347B-704D-CAFD-C0B1-9B0A9C307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6537f9ec8_0_217:notes">
            <a:extLst>
              <a:ext uri="{FF2B5EF4-FFF2-40B4-BE49-F238E27FC236}">
                <a16:creationId xmlns:a16="http://schemas.microsoft.com/office/drawing/2014/main" id="{F8DA8F8E-42F1-1C6F-9F75-533064119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6537f9ec8_0_217:notes">
            <a:extLst>
              <a:ext uri="{FF2B5EF4-FFF2-40B4-BE49-F238E27FC236}">
                <a16:creationId xmlns:a16="http://schemas.microsoft.com/office/drawing/2014/main" id="{FB60C524-1ED3-FD30-BBA6-5BA1586306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39546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abdf5e95cb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abdf5e95cb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3"/>
        </a:solidFill>
        <a:effectLst/>
      </p:bgPr>
    </p:bg>
    <p:spTree>
      <p:nvGrpSpPr>
        <p:cNvPr id="1" name="Shape 153">
          <a:extLst>
            <a:ext uri="{FF2B5EF4-FFF2-40B4-BE49-F238E27FC236}">
              <a16:creationId xmlns:a16="http://schemas.microsoft.com/office/drawing/2014/main" id="{BDA603A5-0010-4702-48CF-FC7F13C4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>
            <a:extLst>
              <a:ext uri="{FF2B5EF4-FFF2-40B4-BE49-F238E27FC236}">
                <a16:creationId xmlns:a16="http://schemas.microsoft.com/office/drawing/2014/main" id="{55014494-A6D2-E0E5-7FEE-59533F0E8588}"/>
              </a:ext>
            </a:extLst>
          </p:cNvPr>
          <p:cNvSpPr txBox="1"/>
          <p:nvPr/>
        </p:nvSpPr>
        <p:spPr>
          <a:xfrm>
            <a:off x="216375" y="250050"/>
            <a:ext cx="8105100" cy="69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3200" dirty="0">
                <a:solidFill>
                  <a:srgbClr val="FFFBF8"/>
                </a:solidFill>
                <a:latin typeface="Montserrat"/>
                <a:sym typeface="Montserrat"/>
              </a:rPr>
              <a:t>DSII – Etapas Basicas</a:t>
            </a:r>
            <a:endParaRPr sz="3200" dirty="0">
              <a:solidFill>
                <a:srgbClr val="FFFBF8"/>
              </a:solidFill>
            </a:endParaRPr>
          </a:p>
        </p:txBody>
      </p:sp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DC71517C-180D-B3F1-ABEC-67B3F4B6BB7B}"/>
              </a:ext>
            </a:extLst>
          </p:cNvPr>
          <p:cNvSpPr txBox="1"/>
          <p:nvPr/>
        </p:nvSpPr>
        <p:spPr>
          <a:xfrm>
            <a:off x="7247556" y="4444505"/>
            <a:ext cx="8286900" cy="2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 dirty="0">
                <a:solidFill>
                  <a:schemeClr val="tx2">
                    <a:lumMod val="90000"/>
                  </a:schemeClr>
                </a:solidFill>
                <a:latin typeface="Montserrat SemiBold"/>
                <a:sym typeface="Montserrat SemiBold"/>
              </a:rPr>
              <a:t>Facundo Bosch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de" sz="1200" dirty="0">
                <a:solidFill>
                  <a:schemeClr val="tx2">
                    <a:lumMod val="90000"/>
                  </a:schemeClr>
                </a:solidFill>
                <a:latin typeface="Montserrat SemiBold"/>
                <a:sym typeface="Montserrat SemiBold"/>
              </a:rPr>
              <a:t>1er Entrega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" sz="3200" dirty="0">
              <a:solidFill>
                <a:schemeClr val="accent3"/>
              </a:solidFill>
              <a:latin typeface="Montserrat SemiBold"/>
              <a:sym typeface="Montserrat SemiBold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F2DE1AD-AE9C-80BD-477F-7AB6B6A06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112160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55;p24">
            <a:extLst>
              <a:ext uri="{FF2B5EF4-FFF2-40B4-BE49-F238E27FC236}">
                <a16:creationId xmlns:a16="http://schemas.microsoft.com/office/drawing/2014/main" id="{08C063DC-9E7F-6E12-35C7-3B0772C8749C}"/>
              </a:ext>
            </a:extLst>
          </p:cNvPr>
          <p:cNvSpPr txBox="1"/>
          <p:nvPr/>
        </p:nvSpPr>
        <p:spPr>
          <a:xfrm>
            <a:off x="567096" y="2270667"/>
            <a:ext cx="8286900" cy="2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2800" i="1" dirty="0">
                <a:solidFill>
                  <a:schemeClr val="accent3"/>
                </a:solidFill>
                <a:latin typeface="Montserrat SemiBold"/>
                <a:sym typeface="Montserrat SemiBold"/>
              </a:rPr>
              <a:t>ANÁLISIS DE CANCELACION DE RESERVAS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" sz="3200" i="1" dirty="0">
              <a:solidFill>
                <a:schemeClr val="accent3"/>
              </a:solidFill>
              <a:latin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64913760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F307A212-259D-C9CE-48DA-2EF8D3711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8748D4EE-1991-32ED-4C4C-EE3BD76FDF28}"/>
              </a:ext>
            </a:extLst>
          </p:cNvPr>
          <p:cNvSpPr txBox="1"/>
          <p:nvPr/>
        </p:nvSpPr>
        <p:spPr>
          <a:xfrm>
            <a:off x="70902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2600" dirty="0">
                <a:solidFill>
                  <a:schemeClr val="accent3"/>
                </a:solidFill>
                <a:latin typeface="Montserrat SemiBold"/>
                <a:sym typeface="Montserrat SemiBold"/>
              </a:rPr>
              <a:t>PRESENTACIÓN DEL PROYECTO</a:t>
            </a:r>
            <a:endParaRPr sz="2600" dirty="0">
              <a:solidFill>
                <a:schemeClr val="accent3"/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E9B2E763-CA20-D692-1366-05322BB65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77;p16">
            <a:extLst>
              <a:ext uri="{FF2B5EF4-FFF2-40B4-BE49-F238E27FC236}">
                <a16:creationId xmlns:a16="http://schemas.microsoft.com/office/drawing/2014/main" id="{BC82C12C-94AB-7482-D48F-1FD41086D5D5}"/>
              </a:ext>
            </a:extLst>
          </p:cNvPr>
          <p:cNvSpPr txBox="1"/>
          <p:nvPr/>
        </p:nvSpPr>
        <p:spPr>
          <a:xfrm>
            <a:off x="-67643" y="758786"/>
            <a:ext cx="2693080" cy="447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noAutofit/>
          </a:bodyPr>
          <a:lstStyle/>
          <a:p>
            <a:pPr marL="457200" lvl="0">
              <a:lnSpc>
                <a:spcPct val="115000"/>
              </a:lnSpc>
            </a:pPr>
            <a:r>
              <a:rPr lang="es-ES" sz="1600" dirty="0"/>
              <a:t>🧭 </a:t>
            </a:r>
            <a:r>
              <a:rPr lang="de" sz="1600" b="1" dirty="0">
                <a:solidFill>
                  <a:schemeClr val="dk1"/>
                </a:solidFill>
                <a:latin typeface="Montserrat"/>
                <a:sym typeface="Montserrat SemiBold"/>
              </a:rPr>
              <a:t>MOTIVACIÓN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0A55D3E-3AF4-11B2-EDFE-B86782A2D388}"/>
              </a:ext>
            </a:extLst>
          </p:cNvPr>
          <p:cNvSpPr txBox="1"/>
          <p:nvPr/>
        </p:nvSpPr>
        <p:spPr>
          <a:xfrm>
            <a:off x="907472" y="1205845"/>
            <a:ext cx="732905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En el sector hotelero, uno de los principales desafíos operativos es la gestión de cancelaciones.</a:t>
            </a:r>
          </a:p>
          <a:p>
            <a:r>
              <a:rPr lang="es-ES" sz="1000" dirty="0">
                <a:latin typeface="Montserrat" panose="00000500000000000000" pitchFamily="2" charset="0"/>
              </a:rPr>
              <a:t>Las cancelaciones imprevistas afectan la </a:t>
            </a:r>
            <a:r>
              <a:rPr lang="es-ES" sz="1000" b="1" dirty="0">
                <a:latin typeface="Montserrat" panose="00000500000000000000" pitchFamily="2" charset="0"/>
              </a:rPr>
              <a:t>rentabilidad</a:t>
            </a:r>
            <a:r>
              <a:rPr lang="es-ES" sz="1000" dirty="0">
                <a:latin typeface="Montserrat" panose="00000500000000000000" pitchFamily="2" charset="0"/>
              </a:rPr>
              <a:t>, complican la </a:t>
            </a:r>
            <a:r>
              <a:rPr lang="es-ES" sz="1000" b="1" dirty="0">
                <a:latin typeface="Montserrat" panose="00000500000000000000" pitchFamily="2" charset="0"/>
              </a:rPr>
              <a:t>planificación de ocupación</a:t>
            </a:r>
            <a:r>
              <a:rPr lang="es-ES" sz="1000" dirty="0">
                <a:latin typeface="Montserrat" panose="00000500000000000000" pitchFamily="2" charset="0"/>
              </a:rPr>
              <a:t> y generan </a:t>
            </a:r>
            <a:r>
              <a:rPr lang="es-ES" sz="1000" b="1" dirty="0">
                <a:latin typeface="Montserrat" panose="00000500000000000000" pitchFamily="2" charset="0"/>
              </a:rPr>
              <a:t>costos de oportunidad</a:t>
            </a:r>
            <a:r>
              <a:rPr lang="es-ES" sz="1000" dirty="0">
                <a:latin typeface="Montserrat" panose="00000500000000000000" pitchFamily="2" charset="0"/>
              </a:rPr>
              <a:t>.</a:t>
            </a:r>
          </a:p>
          <a:p>
            <a:r>
              <a:rPr lang="es-ES" sz="1000" dirty="0">
                <a:latin typeface="Montserrat" panose="00000500000000000000" pitchFamily="2" charset="0"/>
              </a:rPr>
              <a:t>Este análisis busca identificar </a:t>
            </a:r>
            <a:r>
              <a:rPr lang="es-ES" sz="1000" b="1" dirty="0">
                <a:latin typeface="Montserrat" panose="00000500000000000000" pitchFamily="2" charset="0"/>
              </a:rPr>
              <a:t>factores que explican la cancelación de reservas</a:t>
            </a:r>
            <a:r>
              <a:rPr lang="es-ES" sz="1000" dirty="0">
                <a:latin typeface="Montserrat" panose="00000500000000000000" pitchFamily="2" charset="0"/>
              </a:rPr>
              <a:t>, utilizando un </a:t>
            </a:r>
            <a:r>
              <a:rPr lang="es-ES" sz="1000" dirty="0" err="1">
                <a:latin typeface="Montserrat" panose="00000500000000000000" pitchFamily="2" charset="0"/>
              </a:rPr>
              <a:t>dataset</a:t>
            </a:r>
            <a:r>
              <a:rPr lang="es-ES" sz="1000" dirty="0">
                <a:latin typeface="Montserrat" panose="00000500000000000000" pitchFamily="2" charset="0"/>
              </a:rPr>
              <a:t> de +36.000 registros reales.</a:t>
            </a:r>
            <a:br>
              <a:rPr lang="es-ES" sz="1000" dirty="0">
                <a:latin typeface="Montserrat" panose="00000500000000000000" pitchFamily="2" charset="0"/>
              </a:rPr>
            </a:br>
            <a:r>
              <a:rPr lang="es-ES" sz="1000" dirty="0">
                <a:latin typeface="Montserrat" panose="00000500000000000000" pitchFamily="2" charset="0"/>
              </a:rPr>
              <a:t>Se aplican técnicas de </a:t>
            </a:r>
            <a:r>
              <a:rPr lang="es-ES" sz="1000" b="1" dirty="0">
                <a:latin typeface="Montserrat" panose="00000500000000000000" pitchFamily="2" charset="0"/>
              </a:rPr>
              <a:t>EDA</a:t>
            </a:r>
            <a:r>
              <a:rPr lang="es-ES" sz="1000" dirty="0">
                <a:latin typeface="Montserrat" panose="00000500000000000000" pitchFamily="2" charset="0"/>
              </a:rPr>
              <a:t>, </a:t>
            </a:r>
            <a:r>
              <a:rPr lang="es-ES" sz="1000" b="1" dirty="0">
                <a:latin typeface="Montserrat" panose="00000500000000000000" pitchFamily="2" charset="0"/>
              </a:rPr>
              <a:t>visualizaciones</a:t>
            </a:r>
            <a:r>
              <a:rPr lang="es-ES" sz="1000" dirty="0">
                <a:latin typeface="Montserrat" panose="00000500000000000000" pitchFamily="2" charset="0"/>
              </a:rPr>
              <a:t> y análisis de variables.</a:t>
            </a:r>
          </a:p>
          <a:p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6381473-6B34-DEEC-2B0B-1CD378F15E22}"/>
              </a:ext>
            </a:extLst>
          </p:cNvPr>
          <p:cNvSpPr txBox="1"/>
          <p:nvPr/>
        </p:nvSpPr>
        <p:spPr>
          <a:xfrm>
            <a:off x="384464" y="2436951"/>
            <a:ext cx="45927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🎯 </a:t>
            </a:r>
            <a:r>
              <a:rPr lang="es-ES" sz="1600" b="1" dirty="0">
                <a:solidFill>
                  <a:schemeClr val="dk1"/>
                </a:solidFill>
                <a:latin typeface="Montserrat"/>
              </a:rPr>
              <a:t>RELEVACION ACTUAL</a:t>
            </a:r>
            <a:endParaRPr lang="es-ES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B78EBA7-7F47-07B1-1667-D7E81571F348}"/>
              </a:ext>
            </a:extLst>
          </p:cNvPr>
          <p:cNvSpPr txBox="1"/>
          <p:nvPr/>
        </p:nvSpPr>
        <p:spPr>
          <a:xfrm>
            <a:off x="907472" y="2800883"/>
            <a:ext cx="732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Con el auge de reservas online y cancelaciones sin penalización, es clave anticiparse para ajustar </a:t>
            </a:r>
            <a:r>
              <a:rPr lang="es-ES" sz="1000" b="1" dirty="0">
                <a:latin typeface="Montserrat" panose="00000500000000000000" pitchFamily="2" charset="0"/>
              </a:rPr>
              <a:t>estrategias comerciales y previsión de ingresos</a:t>
            </a:r>
            <a:r>
              <a:rPr lang="es-ES" sz="1000" dirty="0">
                <a:latin typeface="Montserrat" panose="00000500000000000000" pitchFamily="2" charset="0"/>
              </a:rPr>
              <a:t>.</a:t>
            </a:r>
            <a:endParaRPr lang="es-ES" dirty="0">
              <a:latin typeface="Montserrat" panose="000005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4524947-91DB-405E-CCDB-5579F191374A}"/>
              </a:ext>
            </a:extLst>
          </p:cNvPr>
          <p:cNvSpPr txBox="1"/>
          <p:nvPr/>
        </p:nvSpPr>
        <p:spPr>
          <a:xfrm>
            <a:off x="384464" y="3464144"/>
            <a:ext cx="45927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latin typeface="Montserrat" panose="00000500000000000000" pitchFamily="2" charset="0"/>
              </a:rPr>
              <a:t>👥 AUDIENCIA OBJETIVO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6BBF5C5-D4A0-F478-50A0-9E4872E9B10F}"/>
              </a:ext>
            </a:extLst>
          </p:cNvPr>
          <p:cNvSpPr txBox="1"/>
          <p:nvPr/>
        </p:nvSpPr>
        <p:spPr>
          <a:xfrm>
            <a:off x="907471" y="3937655"/>
            <a:ext cx="7329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2FAEA150-31BB-7FDF-C860-5B515FD25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471" y="3850814"/>
            <a:ext cx="248657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Gerentes de alojamientos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Revenue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managers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Analistas de datos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Decisores estratégicos del sector</a:t>
            </a:r>
          </a:p>
        </p:txBody>
      </p:sp>
    </p:spTree>
    <p:extLst>
      <p:ext uri="{BB962C8B-B14F-4D97-AF65-F5344CB8AC3E}">
        <p14:creationId xmlns:p14="http://schemas.microsoft.com/office/powerpoint/2010/main" val="1007922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17078146-1AA5-8596-604C-C12FB668C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A65F30CD-DE0D-099A-C4BB-FECB37482928}"/>
              </a:ext>
            </a:extLst>
          </p:cNvPr>
          <p:cNvSpPr txBox="1"/>
          <p:nvPr/>
        </p:nvSpPr>
        <p:spPr>
          <a:xfrm>
            <a:off x="70902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2600" dirty="0">
                <a:solidFill>
                  <a:schemeClr val="bg1">
                    <a:lumMod val="85000"/>
                  </a:schemeClr>
                </a:solidFill>
                <a:latin typeface="Montserrat SemiBold"/>
                <a:sym typeface="Montserrat SemiBold"/>
              </a:rPr>
              <a:t>PRESENTACIÓN DEL PROYECTO</a:t>
            </a:r>
            <a:endParaRPr sz="2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8F4B3E1-1982-2AD8-4500-AF3716D97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77;p16">
            <a:extLst>
              <a:ext uri="{FF2B5EF4-FFF2-40B4-BE49-F238E27FC236}">
                <a16:creationId xmlns:a16="http://schemas.microsoft.com/office/drawing/2014/main" id="{AB6FEA9E-6116-C445-6FD4-9BB48A76065E}"/>
              </a:ext>
            </a:extLst>
          </p:cNvPr>
          <p:cNvSpPr txBox="1"/>
          <p:nvPr/>
        </p:nvSpPr>
        <p:spPr>
          <a:xfrm>
            <a:off x="-67643" y="758786"/>
            <a:ext cx="5339298" cy="447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noAutofit/>
          </a:bodyPr>
          <a:lstStyle/>
          <a:p>
            <a:pPr marL="457200">
              <a:lnSpc>
                <a:spcPct val="115000"/>
              </a:lnSpc>
            </a:pPr>
            <a:r>
              <a:rPr lang="es-ES" sz="1600" b="1" dirty="0">
                <a:latin typeface="Montserrat" panose="00000500000000000000" pitchFamily="2" charset="0"/>
              </a:rPr>
              <a:t>🏨 CONTEXTO COMERCIAL</a:t>
            </a:r>
          </a:p>
          <a:p>
            <a:pPr marL="457200" lvl="0">
              <a:lnSpc>
                <a:spcPct val="115000"/>
              </a:lnSpc>
            </a:pPr>
            <a:endParaRPr lang="de" sz="1600" b="1" dirty="0">
              <a:solidFill>
                <a:schemeClr val="dk1"/>
              </a:solidFill>
              <a:latin typeface="Montserrat"/>
              <a:sym typeface="Montserrat SemiBold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937CD0-34C9-E70A-9E5E-C782C9D83379}"/>
              </a:ext>
            </a:extLst>
          </p:cNvPr>
          <p:cNvSpPr txBox="1"/>
          <p:nvPr/>
        </p:nvSpPr>
        <p:spPr>
          <a:xfrm>
            <a:off x="907472" y="1205845"/>
            <a:ext cx="732905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El sector hotelero enfrenta pérdidas por cancelaciones inesperadas.</a:t>
            </a:r>
          </a:p>
          <a:p>
            <a:r>
              <a:rPr lang="es-ES" sz="1000" dirty="0">
                <a:latin typeface="Montserrat" panose="00000500000000000000" pitchFamily="2" charset="0"/>
              </a:rPr>
              <a:t>Las reservas no confirmadas o canceladas a último momento complican: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pPr lvl="1"/>
            <a:r>
              <a:rPr lang="es-ES" sz="1000" dirty="0">
                <a:latin typeface="Montserrat" panose="00000500000000000000" pitchFamily="2" charset="0"/>
              </a:rPr>
              <a:t>📊 la previsión de ingresos</a:t>
            </a:r>
          </a:p>
          <a:p>
            <a:pPr lvl="1"/>
            <a:r>
              <a:rPr lang="es-ES" sz="1000" dirty="0">
                <a:latin typeface="Montserrat" panose="00000500000000000000" pitchFamily="2" charset="0"/>
              </a:rPr>
              <a:t>🛎️ la asignación de habitaciones</a:t>
            </a:r>
          </a:p>
          <a:p>
            <a:pPr lvl="1"/>
            <a:r>
              <a:rPr lang="es-ES" sz="1000" dirty="0">
                <a:latin typeface="Montserrat" panose="00000500000000000000" pitchFamily="2" charset="0"/>
              </a:rPr>
              <a:t>🧑‍🤝‍🧑 la coordinación operativa y de personal</a:t>
            </a:r>
          </a:p>
          <a:p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661D7A4-9CD6-1DB0-4A11-264A1629D1E2}"/>
              </a:ext>
            </a:extLst>
          </p:cNvPr>
          <p:cNvSpPr txBox="1"/>
          <p:nvPr/>
        </p:nvSpPr>
        <p:spPr>
          <a:xfrm>
            <a:off x="384464" y="2436951"/>
            <a:ext cx="4592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Montserrat" panose="00000500000000000000" pitchFamily="2" charset="0"/>
              </a:rPr>
              <a:t>🧪 CONTEXTO ANALÍTICO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B6B8B1-AFE3-76F5-DCE3-2086662F44F7}"/>
              </a:ext>
            </a:extLst>
          </p:cNvPr>
          <p:cNvSpPr txBox="1"/>
          <p:nvPr/>
        </p:nvSpPr>
        <p:spPr>
          <a:xfrm>
            <a:off x="907472" y="2800883"/>
            <a:ext cx="73290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Con el auge de reservas online y cancelaciones sin penalización, es clave anticiparse para ajustar </a:t>
            </a:r>
            <a:r>
              <a:rPr lang="es-ES" sz="1000" b="1" dirty="0">
                <a:latin typeface="Montserrat" panose="00000500000000000000" pitchFamily="2" charset="0"/>
              </a:rPr>
              <a:t>estrategias comerciales y previsión de ingresos</a:t>
            </a:r>
            <a:r>
              <a:rPr lang="es-ES" sz="1000" dirty="0">
                <a:latin typeface="Montserrat" panose="00000500000000000000" pitchFamily="2" charset="0"/>
              </a:rPr>
              <a:t>.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endParaRPr lang="es-ES" dirty="0">
              <a:latin typeface="Montserrat" panose="000005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2085B9F-6B52-0674-59DC-B182DE771588}"/>
              </a:ext>
            </a:extLst>
          </p:cNvPr>
          <p:cNvSpPr txBox="1"/>
          <p:nvPr/>
        </p:nvSpPr>
        <p:spPr>
          <a:xfrm>
            <a:off x="907471" y="3937655"/>
            <a:ext cx="7329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1B6A037-C1FA-8059-AA00-062203A70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572" y="3232277"/>
            <a:ext cx="437972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📦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Dataset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con </a:t>
            </a:r>
            <a:r>
              <a:rPr kumimoji="0" lang="es-ES" altLang="es-E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36.285 reservas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Variables Claves: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	⏱️ Lead</a:t>
            </a:r>
            <a:r>
              <a:rPr lang="es-ES" alt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 Time</a:t>
            </a:r>
            <a:endParaRPr kumimoji="0" lang="es-ES" altLang="es-E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	📶 Segmento Mercado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	🛏️ Tipo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Habitacion</a:t>
            </a:r>
            <a:endParaRPr kumimoji="0" lang="es-ES" altLang="es-E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	🔁 Repetición del cliente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	💰 Precio Promedio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	📦 Pedidos Especiales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	📍 Estado de la reserva (Cancelada / No Cancelada)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51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055C7639-8172-E7D7-12A1-F6AD37539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58A6B85D-88FB-5111-F344-949EA353BA89}"/>
              </a:ext>
            </a:extLst>
          </p:cNvPr>
          <p:cNvSpPr txBox="1"/>
          <p:nvPr/>
        </p:nvSpPr>
        <p:spPr>
          <a:xfrm>
            <a:off x="70902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2600" dirty="0">
                <a:solidFill>
                  <a:schemeClr val="bg1">
                    <a:lumMod val="85000"/>
                  </a:schemeClr>
                </a:solidFill>
                <a:latin typeface="Montserrat SemiBold"/>
                <a:sym typeface="Montserrat SemiBold"/>
              </a:rPr>
              <a:t>PRESENTACIÓN DEL PROYECTO</a:t>
            </a:r>
            <a:endParaRPr sz="2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B8E921B4-9143-F28F-35B7-603A7E12C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77;p16">
            <a:extLst>
              <a:ext uri="{FF2B5EF4-FFF2-40B4-BE49-F238E27FC236}">
                <a16:creationId xmlns:a16="http://schemas.microsoft.com/office/drawing/2014/main" id="{25315DA5-4D20-FEA7-9DAD-089EF26B2BCF}"/>
              </a:ext>
            </a:extLst>
          </p:cNvPr>
          <p:cNvSpPr txBox="1"/>
          <p:nvPr/>
        </p:nvSpPr>
        <p:spPr>
          <a:xfrm>
            <a:off x="0" y="1106555"/>
            <a:ext cx="5339298" cy="447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noAutofit/>
          </a:bodyPr>
          <a:lstStyle/>
          <a:p>
            <a:pPr marL="457200">
              <a:lnSpc>
                <a:spcPct val="115000"/>
              </a:lnSpc>
            </a:pPr>
            <a:r>
              <a:rPr lang="es-ES" sz="1600" dirty="0"/>
              <a:t>❓ </a:t>
            </a:r>
            <a:r>
              <a:rPr lang="es-ES" sz="1600" b="1" dirty="0">
                <a:latin typeface="Montserrat" panose="00000500000000000000" pitchFamily="2" charset="0"/>
              </a:rPr>
              <a:t> PREGUNTAS/HIPÓTESIS</a:t>
            </a:r>
          </a:p>
          <a:p>
            <a:pPr marL="457200" lvl="0">
              <a:lnSpc>
                <a:spcPct val="115000"/>
              </a:lnSpc>
            </a:pPr>
            <a:endParaRPr lang="de" sz="1600" b="1" dirty="0">
              <a:solidFill>
                <a:schemeClr val="dk1"/>
              </a:solidFill>
              <a:latin typeface="Montserrat"/>
              <a:sym typeface="Montserrat SemiBold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2CD573F-4568-10BC-0A53-8A2A1345EAFE}"/>
              </a:ext>
            </a:extLst>
          </p:cNvPr>
          <p:cNvSpPr txBox="1"/>
          <p:nvPr/>
        </p:nvSpPr>
        <p:spPr>
          <a:xfrm>
            <a:off x="453737" y="3106658"/>
            <a:ext cx="4592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🎯</a:t>
            </a:r>
            <a:r>
              <a:rPr lang="es-ES" b="1" dirty="0">
                <a:latin typeface="Montserrat" panose="00000500000000000000" pitchFamily="2" charset="0"/>
              </a:rPr>
              <a:t> OBJETIVO FINAL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ACE6016-022E-1A31-E57E-034EFA57ABF2}"/>
              </a:ext>
            </a:extLst>
          </p:cNvPr>
          <p:cNvSpPr txBox="1"/>
          <p:nvPr/>
        </p:nvSpPr>
        <p:spPr>
          <a:xfrm>
            <a:off x="955963" y="3472828"/>
            <a:ext cx="73290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Montserrat" panose="00000500000000000000" pitchFamily="2" charset="0"/>
              </a:rPr>
              <a:t>Identificar patrones y perfiles de riesgo</a:t>
            </a:r>
            <a:r>
              <a:rPr lang="es-ES" sz="1000" dirty="0">
                <a:latin typeface="Montserrat" panose="00000500000000000000" pitchFamily="2" charset="0"/>
              </a:rPr>
              <a:t> para anticipar cancelaciones y mejorar la rentabilidad del negocio hotelero. </a:t>
            </a:r>
          </a:p>
          <a:p>
            <a:r>
              <a:rPr lang="es-ES" sz="1000" dirty="0">
                <a:latin typeface="Montserrat" panose="00000500000000000000" pitchFamily="2" charset="0"/>
              </a:rPr>
              <a:t>Eventualmente, desarrollar un </a:t>
            </a:r>
            <a:r>
              <a:rPr lang="es-ES" sz="1000" b="1" dirty="0">
                <a:latin typeface="Montserrat" panose="00000500000000000000" pitchFamily="2" charset="0"/>
              </a:rPr>
              <a:t>modelo de predicción </a:t>
            </a:r>
            <a:r>
              <a:rPr lang="es-ES" sz="1000" dirty="0">
                <a:latin typeface="Montserrat" panose="00000500000000000000" pitchFamily="2" charset="0"/>
              </a:rPr>
              <a:t>que permita a los hoteles clasificar nuevas reservas según su probabilidad de ser canceladas.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endParaRPr lang="es-ES" dirty="0">
              <a:latin typeface="Montserrat" panose="000005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72895BC-C5C9-372C-91B7-808C6411352C}"/>
              </a:ext>
            </a:extLst>
          </p:cNvPr>
          <p:cNvSpPr txBox="1"/>
          <p:nvPr/>
        </p:nvSpPr>
        <p:spPr>
          <a:xfrm>
            <a:off x="907471" y="3937655"/>
            <a:ext cx="7329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6FF83A4-D84F-D7E2-BA5C-338CAB761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879" y="1508447"/>
            <a:ext cx="7487947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⏱️ ¿Una mayor anticipación (lead time) implica más cancelaciones?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🌐 ¿Ciertos canales de reserva tienen más tasa de cancelación?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🔁 ¿Los clientes repetitivos cancelan menos que los nuevos?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💰 ¿Las reservas con precios más bajos tienen más probabilidad de cancelarse?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✉️ ¿La existencia de pedidos especiales influye en la cancelación?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🛏️ ¿Qué combinaciones de variables (tipo de habitación, canal, comida, etc.) tienen mayor riesgo de cancelación?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🎨¿Existe algún patrón marcado de cancelación?</a:t>
            </a:r>
            <a:endParaRPr lang="es-ES" alt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488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813FED0F-E008-5693-BC4B-2620E21C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411A87ED-AA8C-30CB-CFDC-AD8A5E60CE84}"/>
              </a:ext>
            </a:extLst>
          </p:cNvPr>
          <p:cNvSpPr txBox="1"/>
          <p:nvPr/>
        </p:nvSpPr>
        <p:spPr>
          <a:xfrm>
            <a:off x="70902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es-ES" sz="2600" dirty="0">
                <a:solidFill>
                  <a:schemeClr val="accent3"/>
                </a:solidFill>
                <a:latin typeface="Montserrat SemiBold"/>
                <a:sym typeface="Montserrat SemiBold"/>
              </a:rPr>
              <a:t>ANÁLISIS DE VARIABLES</a:t>
            </a:r>
            <a:endParaRPr lang="es-ES" sz="2600" dirty="0">
              <a:solidFill>
                <a:schemeClr val="accent3"/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A238C6FD-FFBF-65BB-A458-EE6312C27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A5999E25-0872-3186-3CCC-2F42E324B1CE}"/>
              </a:ext>
            </a:extLst>
          </p:cNvPr>
          <p:cNvSpPr txBox="1"/>
          <p:nvPr/>
        </p:nvSpPr>
        <p:spPr>
          <a:xfrm>
            <a:off x="907471" y="3937655"/>
            <a:ext cx="7329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000" dirty="0">
              <a:latin typeface="Montserrat" panose="00000500000000000000" pitchFamily="2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8C7C2AB-3527-7438-0370-59C228C6D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599687"/>
              </p:ext>
            </p:extLst>
          </p:nvPr>
        </p:nvGraphicFramePr>
        <p:xfrm>
          <a:off x="284251" y="959624"/>
          <a:ext cx="3705857" cy="3972591"/>
        </p:xfrm>
        <a:graphic>
          <a:graphicData uri="http://schemas.openxmlformats.org/drawingml/2006/table">
            <a:tbl>
              <a:tblPr/>
              <a:tblGrid>
                <a:gridCol w="1411578">
                  <a:extLst>
                    <a:ext uri="{9D8B030D-6E8A-4147-A177-3AD203B41FA5}">
                      <a16:colId xmlns:a16="http://schemas.microsoft.com/office/drawing/2014/main" val="3665579956"/>
                    </a:ext>
                  </a:extLst>
                </a:gridCol>
                <a:gridCol w="2294279">
                  <a:extLst>
                    <a:ext uri="{9D8B030D-6E8A-4147-A177-3AD203B41FA5}">
                      <a16:colId xmlns:a16="http://schemas.microsoft.com/office/drawing/2014/main" val="1435858384"/>
                    </a:ext>
                  </a:extLst>
                </a:gridCol>
              </a:tblGrid>
              <a:tr h="369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latin typeface="Montserrat" panose="00000500000000000000" pitchFamily="2" charset="0"/>
                        </a:rPr>
                        <a:t>Tipo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latin typeface="Montserrat" panose="00000500000000000000" pitchFamily="2" charset="0"/>
                        </a:rPr>
                        <a:t>Variables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887190"/>
                  </a:ext>
                </a:extLst>
              </a:tr>
              <a:tr h="831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latin typeface="Montserrat" panose="00000500000000000000" pitchFamily="2" charset="0"/>
                        </a:rPr>
                        <a:t>🧑‍🤝‍🧑 </a:t>
                      </a:r>
                      <a:r>
                        <a:rPr lang="es-ES" sz="1000" b="1" dirty="0">
                          <a:latin typeface="Montserrat" panose="00000500000000000000" pitchFamily="2" charset="0"/>
                        </a:rPr>
                        <a:t>Cliente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Montserrat" panose="00000500000000000000" pitchFamily="2" charset="0"/>
                        </a:rPr>
                        <a:t>number of adults, number of children, repeated, P-C (previous cancelations), P-not-C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315628"/>
                  </a:ext>
                </a:extLst>
              </a:tr>
              <a:tr h="600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latin typeface="Montserrat" panose="00000500000000000000" pitchFamily="2" charset="0"/>
                        </a:rPr>
                        <a:t>📅 </a:t>
                      </a:r>
                      <a:r>
                        <a:rPr lang="es-ES" sz="1000" b="1">
                          <a:latin typeface="Montserrat" panose="00000500000000000000" pitchFamily="2" charset="0"/>
                        </a:rPr>
                        <a:t>Reserva</a:t>
                      </a:r>
                      <a:endParaRPr lang="es-ES" sz="10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Montserrat" panose="00000500000000000000" pitchFamily="2" charset="0"/>
                        </a:rPr>
                        <a:t>lead time, date of reservation, booking 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693156"/>
                  </a:ext>
                </a:extLst>
              </a:tr>
              <a:tr h="106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latin typeface="Montserrat" panose="00000500000000000000" pitchFamily="2" charset="0"/>
                        </a:rPr>
                        <a:t>🏨 </a:t>
                      </a:r>
                      <a:r>
                        <a:rPr lang="es-ES" sz="1000" b="1">
                          <a:latin typeface="Montserrat" panose="00000500000000000000" pitchFamily="2" charset="0"/>
                        </a:rPr>
                        <a:t>Estancia</a:t>
                      </a:r>
                      <a:endParaRPr lang="es-ES" sz="10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Montserrat" panose="00000500000000000000" pitchFamily="2" charset="0"/>
                        </a:rPr>
                        <a:t>number of weekend nights, number of week nights, room type, type of meal, car parking space, special requests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964978"/>
                  </a:ext>
                </a:extLst>
              </a:tr>
              <a:tr h="369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latin typeface="Montserrat" panose="00000500000000000000" pitchFamily="2" charset="0"/>
                        </a:rPr>
                        <a:t>🌐 </a:t>
                      </a:r>
                      <a:r>
                        <a:rPr lang="es-ES" sz="1000" b="1">
                          <a:latin typeface="Montserrat" panose="00000500000000000000" pitchFamily="2" charset="0"/>
                        </a:rPr>
                        <a:t>Canal</a:t>
                      </a:r>
                      <a:endParaRPr lang="es-ES" sz="10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market</a:t>
                      </a:r>
                      <a:r>
                        <a:rPr lang="es-ES" sz="1000" dirty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segment</a:t>
                      </a:r>
                      <a:r>
                        <a:rPr lang="es-ES" sz="1000" dirty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type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66914"/>
                  </a:ext>
                </a:extLst>
              </a:tr>
              <a:tr h="369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latin typeface="Montserrat" panose="00000500000000000000" pitchFamily="2" charset="0"/>
                        </a:rPr>
                        <a:t>💰 </a:t>
                      </a:r>
                      <a:r>
                        <a:rPr lang="es-ES" sz="1000" b="1">
                          <a:latin typeface="Montserrat" panose="00000500000000000000" pitchFamily="2" charset="0"/>
                        </a:rPr>
                        <a:t>Precio</a:t>
                      </a:r>
                      <a:endParaRPr lang="es-ES" sz="10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average</a:t>
                      </a:r>
                      <a:r>
                        <a:rPr lang="es-ES" sz="1000" dirty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price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152204"/>
                  </a:ext>
                </a:extLst>
              </a:tr>
              <a:tr h="369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latin typeface="Montserrat" panose="00000500000000000000" pitchFamily="2" charset="0"/>
                        </a:rPr>
                        <a:t>🆔 </a:t>
                      </a:r>
                      <a:r>
                        <a:rPr lang="es-ES" sz="1000" b="1">
                          <a:latin typeface="Montserrat" panose="00000500000000000000" pitchFamily="2" charset="0"/>
                        </a:rPr>
                        <a:t>Identificador</a:t>
                      </a:r>
                      <a:endParaRPr lang="es-ES" sz="10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booking_id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208412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EB35355-2459-B07C-2381-82CC20315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476606"/>
              </p:ext>
            </p:extLst>
          </p:nvPr>
        </p:nvGraphicFramePr>
        <p:xfrm>
          <a:off x="4495800" y="959624"/>
          <a:ext cx="4337050" cy="3972592"/>
        </p:xfrm>
        <a:graphic>
          <a:graphicData uri="http://schemas.openxmlformats.org/drawingml/2006/table">
            <a:tbl>
              <a:tblPr/>
              <a:tblGrid>
                <a:gridCol w="2175164">
                  <a:extLst>
                    <a:ext uri="{9D8B030D-6E8A-4147-A177-3AD203B41FA5}">
                      <a16:colId xmlns:a16="http://schemas.microsoft.com/office/drawing/2014/main" val="3749680466"/>
                    </a:ext>
                  </a:extLst>
                </a:gridCol>
                <a:gridCol w="2161886">
                  <a:extLst>
                    <a:ext uri="{9D8B030D-6E8A-4147-A177-3AD203B41FA5}">
                      <a16:colId xmlns:a16="http://schemas.microsoft.com/office/drawing/2014/main" val="2637634259"/>
                    </a:ext>
                  </a:extLst>
                </a:gridCol>
              </a:tblGrid>
              <a:tr h="417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s-ES" sz="1000" b="1" dirty="0">
                          <a:latin typeface="Montserrat" panose="00000500000000000000" pitchFamily="2" charset="0"/>
                        </a:rPr>
                        <a:t>Tipo de Variable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s-ES" sz="1000" b="1" dirty="0">
                          <a:latin typeface="Montserrat" panose="00000500000000000000" pitchFamily="2" charset="0"/>
                        </a:rPr>
                        <a:t>Variables incluidas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22472"/>
                  </a:ext>
                </a:extLst>
              </a:tr>
              <a:tr h="100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s-ES" sz="1000" b="1" dirty="0">
                          <a:latin typeface="Montserrat" panose="00000500000000000000" pitchFamily="2" charset="0"/>
                        </a:rPr>
                        <a:t>Numéricas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Montserrat" panose="00000500000000000000" pitchFamily="2" charset="0"/>
                        </a:rPr>
                        <a:t>number of adults, number of children, number of weekend nights, number of week nights, lead time, P-C, P-not-C, average price, special requests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279004"/>
                  </a:ext>
                </a:extLst>
              </a:tr>
              <a:tr h="466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latin typeface="Montserrat" panose="00000500000000000000" pitchFamily="2" charset="0"/>
                        </a:rPr>
                        <a:t>Categóricas nominales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Montserrat" panose="00000500000000000000" pitchFamily="2" charset="0"/>
                        </a:rPr>
                        <a:t>type of meal, market segment type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301226"/>
                  </a:ext>
                </a:extLst>
              </a:tr>
              <a:tr h="417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latin typeface="Montserrat" panose="00000500000000000000" pitchFamily="2" charset="0"/>
                        </a:rPr>
                        <a:t>Categórica binaria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booking</a:t>
                      </a:r>
                      <a:r>
                        <a:rPr lang="es-ES" sz="1000" dirty="0">
                          <a:latin typeface="Montserrat" panose="00000500000000000000" pitchFamily="2" charset="0"/>
                        </a:rPr>
                        <a:t> 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99825"/>
                  </a:ext>
                </a:extLst>
              </a:tr>
              <a:tr h="417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latin typeface="Montserrat" panose="00000500000000000000" pitchFamily="2" charset="0"/>
                        </a:rPr>
                        <a:t>Binarias (0/1)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latin typeface="Montserrat" panose="00000500000000000000" pitchFamily="2" charset="0"/>
                        </a:rPr>
                        <a:t>car parking </a:t>
                      </a: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space</a:t>
                      </a:r>
                      <a:r>
                        <a:rPr lang="es-ES" sz="1000" dirty="0">
                          <a:latin typeface="Montserrat" panose="00000500000000000000" pitchFamily="2" charset="0"/>
                        </a:rPr>
                        <a:t>, </a:t>
                      </a: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repeated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299992"/>
                  </a:ext>
                </a:extLst>
              </a:tr>
              <a:tr h="417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latin typeface="Montserrat" panose="00000500000000000000" pitchFamily="2" charset="0"/>
                        </a:rPr>
                        <a:t>Categórica ordinal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room</a:t>
                      </a:r>
                      <a:r>
                        <a:rPr lang="es-ES" sz="1000" dirty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type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00773"/>
                  </a:ext>
                </a:extLst>
              </a:tr>
              <a:tr h="417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latin typeface="Montserrat" panose="00000500000000000000" pitchFamily="2" charset="0"/>
                        </a:rPr>
                        <a:t>Identificadores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booking_id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382065"/>
                  </a:ext>
                </a:extLst>
              </a:tr>
              <a:tr h="417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latin typeface="Montserrat" panose="00000500000000000000" pitchFamily="2" charset="0"/>
                        </a:rPr>
                        <a:t>Temporales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latin typeface="Montserrat" panose="00000500000000000000" pitchFamily="2" charset="0"/>
                        </a:rPr>
                        <a:t>date </a:t>
                      </a: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of</a:t>
                      </a:r>
                      <a:r>
                        <a:rPr lang="es-ES" sz="1000" dirty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s-ES" sz="1000" dirty="0" err="1">
                          <a:latin typeface="Montserrat" panose="00000500000000000000" pitchFamily="2" charset="0"/>
                        </a:rPr>
                        <a:t>reservation</a:t>
                      </a:r>
                      <a:endParaRPr lang="es-ES" sz="10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933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202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BD3C163-ECE8-9E85-80C6-9D73BA4C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95405D1F-5DF5-5E57-8E92-68B60E3AC453}"/>
              </a:ext>
            </a:extLst>
          </p:cNvPr>
          <p:cNvSpPr txBox="1"/>
          <p:nvPr/>
        </p:nvSpPr>
        <p:spPr>
          <a:xfrm>
            <a:off x="70902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es-ES" sz="2600" dirty="0">
                <a:solidFill>
                  <a:schemeClr val="accent3"/>
                </a:solidFill>
                <a:latin typeface="Montserrat SemiBold"/>
                <a:sym typeface="Montserrat SemiBold"/>
              </a:rPr>
              <a:t>ANÁLISIS EXPLORATIORIO (EDA)</a:t>
            </a:r>
            <a:endParaRPr lang="es-ES" sz="2600" dirty="0">
              <a:solidFill>
                <a:schemeClr val="accent3"/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896859AE-DC1F-DD07-5367-F0AA28DF5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BA041EFC-C450-EDE7-5EEF-08CD6191F5E7}"/>
              </a:ext>
            </a:extLst>
          </p:cNvPr>
          <p:cNvSpPr txBox="1"/>
          <p:nvPr/>
        </p:nvSpPr>
        <p:spPr>
          <a:xfrm>
            <a:off x="907471" y="3937655"/>
            <a:ext cx="7329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19F9042-7B02-409F-37FA-CD58A00FB68E}"/>
              </a:ext>
            </a:extLst>
          </p:cNvPr>
          <p:cNvSpPr txBox="1"/>
          <p:nvPr/>
        </p:nvSpPr>
        <p:spPr>
          <a:xfrm>
            <a:off x="817416" y="3979081"/>
            <a:ext cx="33735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Montserrat" panose="00000500000000000000" pitchFamily="2" charset="0"/>
              </a:rPr>
              <a:t>Mayoría de las reservas son para estancias cortas durante la semana, con picos en 1, 2 y 3 noches. Está sesgada hacia la derecha, indicando que estancias más largas entre semana son menos comunes.</a:t>
            </a:r>
          </a:p>
          <a:p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D143362-A2BF-D8A6-169A-3464CE60B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15" y="1246643"/>
            <a:ext cx="4103721" cy="248892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8A9B9DB-F0FC-7ECE-8E33-97D901FD1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8" y="1246644"/>
            <a:ext cx="3949813" cy="2488924"/>
          </a:xfrm>
          <a:prstGeom prst="rect">
            <a:avLst/>
          </a:prstGeom>
        </p:spPr>
      </p:pic>
      <p:sp>
        <p:nvSpPr>
          <p:cNvPr id="17" name="Google Shape;77;p16">
            <a:extLst>
              <a:ext uri="{FF2B5EF4-FFF2-40B4-BE49-F238E27FC236}">
                <a16:creationId xmlns:a16="http://schemas.microsoft.com/office/drawing/2014/main" id="{1FD72C86-B0DE-4CB6-A96C-E36822F601F0}"/>
              </a:ext>
            </a:extLst>
          </p:cNvPr>
          <p:cNvSpPr txBox="1"/>
          <p:nvPr/>
        </p:nvSpPr>
        <p:spPr>
          <a:xfrm>
            <a:off x="-240825" y="625810"/>
            <a:ext cx="6038952" cy="447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noAutofit/>
          </a:bodyPr>
          <a:lstStyle/>
          <a:p>
            <a:pPr marL="457200">
              <a:lnSpc>
                <a:spcPct val="115000"/>
              </a:lnSpc>
            </a:pPr>
            <a:r>
              <a:rPr lang="es-ES" sz="1300" dirty="0">
                <a:latin typeface="Montserrat" panose="00000500000000000000" pitchFamily="2" charset="0"/>
              </a:rPr>
              <a:t>DISTRIBUCIONES para entender la población:</a:t>
            </a:r>
          </a:p>
          <a:p>
            <a:pPr marL="457200" lvl="0">
              <a:lnSpc>
                <a:spcPct val="115000"/>
              </a:lnSpc>
            </a:pPr>
            <a:endParaRPr lang="de" sz="1600" b="1" dirty="0">
              <a:solidFill>
                <a:schemeClr val="dk1"/>
              </a:solidFill>
              <a:latin typeface="Montserrat"/>
              <a:sym typeface="Montserrat SemiBold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06C7AE0-82FC-38BE-910C-A4FCF0947EC9}"/>
              </a:ext>
            </a:extLst>
          </p:cNvPr>
          <p:cNvSpPr txBox="1"/>
          <p:nvPr/>
        </p:nvSpPr>
        <p:spPr>
          <a:xfrm>
            <a:off x="5052807" y="3979081"/>
            <a:ext cx="33735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Montserrat" panose="00000500000000000000" pitchFamily="2" charset="0"/>
              </a:rPr>
              <a:t>Reservas no incluyen noches de fin de semana (0 noches), pero también hay una cantidad considerable de reservas que incluyen 1 o 2 noches de fin de semana. También está sesgado a la derecha.</a:t>
            </a:r>
          </a:p>
        </p:txBody>
      </p:sp>
    </p:spTree>
    <p:extLst>
      <p:ext uri="{BB962C8B-B14F-4D97-AF65-F5344CB8AC3E}">
        <p14:creationId xmlns:p14="http://schemas.microsoft.com/office/powerpoint/2010/main" val="2070269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82A6998A-1DBB-08ED-D3C0-B08925E53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D9909DBC-EE01-25E3-09AE-404A97C58BE3}"/>
              </a:ext>
            </a:extLst>
          </p:cNvPr>
          <p:cNvSpPr txBox="1"/>
          <p:nvPr/>
        </p:nvSpPr>
        <p:spPr>
          <a:xfrm>
            <a:off x="70902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es-ES" sz="2600" dirty="0">
                <a:solidFill>
                  <a:schemeClr val="bg1">
                    <a:lumMod val="85000"/>
                  </a:schemeClr>
                </a:solidFill>
                <a:latin typeface="Montserrat SemiBold"/>
                <a:sym typeface="Montserrat SemiBold"/>
              </a:rPr>
              <a:t>ANÁLISIS EXPLORATIORIO (EDA)</a:t>
            </a:r>
            <a:endParaRPr lang="es-ES" sz="2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F5160B19-D3FB-9CFB-B92F-55D7C0E23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30DD6F88-73A9-1789-BA2F-C1E52269E5D7}"/>
              </a:ext>
            </a:extLst>
          </p:cNvPr>
          <p:cNvSpPr txBox="1"/>
          <p:nvPr/>
        </p:nvSpPr>
        <p:spPr>
          <a:xfrm>
            <a:off x="907471" y="3937655"/>
            <a:ext cx="7329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A028D1-88E9-1F75-BE93-D372A716F507}"/>
              </a:ext>
            </a:extLst>
          </p:cNvPr>
          <p:cNvSpPr txBox="1"/>
          <p:nvPr/>
        </p:nvSpPr>
        <p:spPr>
          <a:xfrm>
            <a:off x="306902" y="3623572"/>
            <a:ext cx="263477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Montserrat" panose="00000500000000000000" pitchFamily="2" charset="0"/>
              </a:rPr>
              <a:t>Mayoría de las reservas son para 2 adultos, seguidas por reservas para 1 adulto. Esto indica el tamaño típico de los grupos que reservan en este establecimiento.</a:t>
            </a:r>
          </a:p>
        </p:txBody>
      </p:sp>
      <p:sp>
        <p:nvSpPr>
          <p:cNvPr id="17" name="Google Shape;77;p16">
            <a:extLst>
              <a:ext uri="{FF2B5EF4-FFF2-40B4-BE49-F238E27FC236}">
                <a16:creationId xmlns:a16="http://schemas.microsoft.com/office/drawing/2014/main" id="{748FA445-DEEE-1EA3-95CA-C65EBE6117E0}"/>
              </a:ext>
            </a:extLst>
          </p:cNvPr>
          <p:cNvSpPr txBox="1"/>
          <p:nvPr/>
        </p:nvSpPr>
        <p:spPr>
          <a:xfrm>
            <a:off x="-240825" y="625810"/>
            <a:ext cx="6038952" cy="447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noAutofit/>
          </a:bodyPr>
          <a:lstStyle/>
          <a:p>
            <a:pPr marL="457200">
              <a:lnSpc>
                <a:spcPct val="115000"/>
              </a:lnSpc>
            </a:pPr>
            <a:r>
              <a:rPr lang="es-ES" sz="1300" dirty="0">
                <a:latin typeface="Montserrat" panose="00000500000000000000" pitchFamily="2" charset="0"/>
              </a:rPr>
              <a:t>DISTRIBUCIONES para entender la población:</a:t>
            </a:r>
          </a:p>
          <a:p>
            <a:pPr marL="457200" lvl="0">
              <a:lnSpc>
                <a:spcPct val="115000"/>
              </a:lnSpc>
            </a:pPr>
            <a:endParaRPr lang="de" sz="1600" b="1" dirty="0">
              <a:solidFill>
                <a:schemeClr val="dk1"/>
              </a:solidFill>
              <a:latin typeface="Montserrat"/>
              <a:sym typeface="Montserrat SemiBold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6D275B0-196D-1439-2309-26AB06BE0F78}"/>
              </a:ext>
            </a:extLst>
          </p:cNvPr>
          <p:cNvSpPr txBox="1"/>
          <p:nvPr/>
        </p:nvSpPr>
        <p:spPr>
          <a:xfrm>
            <a:off x="3623778" y="3599100"/>
            <a:ext cx="20426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Montserrat" panose="00000500000000000000" pitchFamily="2" charset="0"/>
              </a:rPr>
              <a:t>Hay un desbalance en la muestra, con una mayor cantidad de reservas no canceladas que canceladas. Esto es importante tener en cuenta para futuros modelos predictivos.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1E4485-6D86-4B39-C3CC-EE08416A2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45" y="1587484"/>
            <a:ext cx="3020567" cy="196853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6689369-43C6-577D-C610-010B129214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0912" y="1506338"/>
            <a:ext cx="2889967" cy="199784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947C4D2-1CCC-8256-1412-3EEDA4C89A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103" y="1537422"/>
            <a:ext cx="2936729" cy="201859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15EC6C4-A7DE-4CA3-F4E7-C17588CAEA14}"/>
              </a:ext>
            </a:extLst>
          </p:cNvPr>
          <p:cNvSpPr txBox="1"/>
          <p:nvPr/>
        </p:nvSpPr>
        <p:spPr>
          <a:xfrm>
            <a:off x="6521302" y="3537545"/>
            <a:ext cx="239732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 </a:t>
            </a:r>
            <a:r>
              <a:rPr lang="es-ES" sz="1000" dirty="0">
                <a:latin typeface="Montserrat" panose="00000500000000000000" pitchFamily="2" charset="0"/>
              </a:rPr>
              <a:t>Las reservas con un mayor número de solicitudes especiales tienden a tener una menor tasa de cancelación. Esto sugiere que hacer solicitudes especiales puede ser un indicador de un cliente más comprometido con la reserva.</a:t>
            </a:r>
          </a:p>
        </p:txBody>
      </p:sp>
    </p:spTree>
    <p:extLst>
      <p:ext uri="{BB962C8B-B14F-4D97-AF65-F5344CB8AC3E}">
        <p14:creationId xmlns:p14="http://schemas.microsoft.com/office/powerpoint/2010/main" val="24769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69873BB-48A9-B651-97C6-A65609971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C39791C8-BE2D-6E99-8F21-8004759D5793}"/>
              </a:ext>
            </a:extLst>
          </p:cNvPr>
          <p:cNvSpPr txBox="1"/>
          <p:nvPr/>
        </p:nvSpPr>
        <p:spPr>
          <a:xfrm>
            <a:off x="70902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es-ES" sz="2600" dirty="0">
                <a:solidFill>
                  <a:schemeClr val="bg1">
                    <a:lumMod val="85000"/>
                  </a:schemeClr>
                </a:solidFill>
                <a:latin typeface="Montserrat SemiBold"/>
                <a:sym typeface="Montserrat SemiBold"/>
              </a:rPr>
              <a:t>ANÁLISIS EXPLORATIORIO (EDA)</a:t>
            </a:r>
            <a:endParaRPr lang="es-ES" sz="2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C2A17157-AC14-F46B-9019-EA5164EE3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8267541-1246-E537-F5E2-5BAA0681A462}"/>
              </a:ext>
            </a:extLst>
          </p:cNvPr>
          <p:cNvSpPr txBox="1"/>
          <p:nvPr/>
        </p:nvSpPr>
        <p:spPr>
          <a:xfrm>
            <a:off x="907471" y="3937655"/>
            <a:ext cx="7329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000" dirty="0">
              <a:latin typeface="Montserrat" panose="00000500000000000000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A8B7874-EE87-2A3B-DB42-0B89CDD0B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72" y="819037"/>
            <a:ext cx="4442828" cy="25443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5ED52E4-C197-815B-12A5-191A81417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356" y="758786"/>
            <a:ext cx="4056873" cy="266489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903B0E6-2167-D836-9B72-33C507065275}"/>
              </a:ext>
            </a:extLst>
          </p:cNvPr>
          <p:cNvSpPr txBox="1"/>
          <p:nvPr/>
        </p:nvSpPr>
        <p:spPr>
          <a:xfrm>
            <a:off x="387926" y="3445212"/>
            <a:ext cx="412027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Segmento </a:t>
            </a:r>
            <a:r>
              <a:rPr lang="es-ES" sz="1000" b="1" dirty="0">
                <a:latin typeface="Montserrat" panose="00000500000000000000" pitchFamily="2" charset="0"/>
              </a:rPr>
              <a:t>ONLINE</a:t>
            </a:r>
            <a:r>
              <a:rPr lang="es-ES" sz="1000" dirty="0">
                <a:latin typeface="Montserrat" panose="00000500000000000000" pitchFamily="2" charset="0"/>
              </a:rPr>
              <a:t> con mayor peso en cantidad de reservas, seguido por </a:t>
            </a:r>
            <a:r>
              <a:rPr lang="es-ES" sz="1000" b="1" dirty="0">
                <a:latin typeface="Montserrat" panose="00000500000000000000" pitchFamily="2" charset="0"/>
              </a:rPr>
              <a:t>OFFLINE</a:t>
            </a:r>
            <a:r>
              <a:rPr lang="es-ES" sz="1000" dirty="0">
                <a:latin typeface="Montserrat" panose="00000500000000000000" pitchFamily="2" charset="0"/>
              </a:rPr>
              <a:t> y </a:t>
            </a:r>
            <a:r>
              <a:rPr lang="es-ES" sz="1000" b="1" dirty="0">
                <a:latin typeface="Montserrat" panose="00000500000000000000" pitchFamily="2" charset="0"/>
              </a:rPr>
              <a:t>CORPORATE</a:t>
            </a:r>
            <a:r>
              <a:rPr lang="es-ES" sz="1000" dirty="0">
                <a:latin typeface="Montserrat" panose="00000500000000000000" pitchFamily="2" charset="0"/>
              </a:rPr>
              <a:t>. Sin peso para </a:t>
            </a:r>
            <a:r>
              <a:rPr lang="es-ES" sz="1000" dirty="0" err="1">
                <a:latin typeface="Montserrat" panose="00000500000000000000" pitchFamily="2" charset="0"/>
              </a:rPr>
              <a:t>Aviation</a:t>
            </a:r>
            <a:r>
              <a:rPr lang="es-ES" sz="1000" dirty="0">
                <a:latin typeface="Montserrat" panose="00000500000000000000" pitchFamily="2" charset="0"/>
              </a:rPr>
              <a:t> y </a:t>
            </a:r>
            <a:r>
              <a:rPr lang="es-ES" sz="1000" dirty="0" err="1">
                <a:latin typeface="Montserrat" panose="00000500000000000000" pitchFamily="2" charset="0"/>
              </a:rPr>
              <a:t>Complementary</a:t>
            </a:r>
            <a:endParaRPr lang="es-ES" sz="1000" dirty="0">
              <a:latin typeface="Montserrat" panose="00000500000000000000" pitchFamily="2" charset="0"/>
            </a:endParaRPr>
          </a:p>
          <a:p>
            <a:endParaRPr lang="es-ES" dirty="0"/>
          </a:p>
          <a:p>
            <a:r>
              <a:rPr lang="es-ES" sz="1000" dirty="0">
                <a:latin typeface="Montserrat" panose="00000500000000000000" pitchFamily="2" charset="0"/>
              </a:rPr>
              <a:t>Se observa mayor proporción y cantidad de cancelados en el canal </a:t>
            </a:r>
            <a:r>
              <a:rPr lang="es-ES" sz="1000" b="1" dirty="0">
                <a:latin typeface="Montserrat" panose="00000500000000000000" pitchFamily="2" charset="0"/>
              </a:rPr>
              <a:t>ONLINE</a:t>
            </a:r>
            <a:r>
              <a:rPr lang="es-ES" sz="1000" dirty="0">
                <a:latin typeface="Montserrat" panose="00000500000000000000" pitchFamily="2" charset="0"/>
              </a:rPr>
              <a:t>.</a:t>
            </a:r>
          </a:p>
          <a:p>
            <a:r>
              <a:rPr lang="es-ES" sz="1000" dirty="0">
                <a:latin typeface="Montserrat" panose="00000500000000000000" pitchFamily="2" charset="0"/>
              </a:rPr>
              <a:t>Pocas cancelaciones en el canal </a:t>
            </a:r>
            <a:r>
              <a:rPr lang="es-ES" sz="1000" b="1" dirty="0">
                <a:latin typeface="Montserrat" panose="00000500000000000000" pitchFamily="2" charset="0"/>
              </a:rPr>
              <a:t>CORPORATE</a:t>
            </a:r>
            <a:r>
              <a:rPr lang="es-ES" sz="1000" dirty="0">
                <a:latin typeface="Montserrat" panose="00000500000000000000" pitchFamily="2" charset="0"/>
              </a:rPr>
              <a:t>.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C2575D-75CE-443C-0ADD-8BDD3317C166}"/>
              </a:ext>
            </a:extLst>
          </p:cNvPr>
          <p:cNvSpPr txBox="1"/>
          <p:nvPr/>
        </p:nvSpPr>
        <p:spPr>
          <a:xfrm>
            <a:off x="4809652" y="3423684"/>
            <a:ext cx="412027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Precio Promedio mas alto en el canal </a:t>
            </a:r>
            <a:r>
              <a:rPr lang="es-ES" sz="1000" b="1" dirty="0">
                <a:latin typeface="Montserrat" panose="00000500000000000000" pitchFamily="2" charset="0"/>
              </a:rPr>
              <a:t>ONLINE. </a:t>
            </a:r>
            <a:r>
              <a:rPr lang="es-ES" sz="1000" dirty="0">
                <a:latin typeface="Montserrat" panose="00000500000000000000" pitchFamily="2" charset="0"/>
              </a:rPr>
              <a:t>Podría ser indicativo de muchas cancelaciones.</a:t>
            </a:r>
          </a:p>
          <a:p>
            <a:endParaRPr lang="es-ES" sz="1000" b="1" dirty="0">
              <a:latin typeface="Montserrat" panose="00000500000000000000" pitchFamily="2" charset="0"/>
            </a:endParaRPr>
          </a:p>
          <a:p>
            <a:r>
              <a:rPr lang="es-ES" sz="1000" dirty="0">
                <a:latin typeface="Montserrat" panose="00000500000000000000" pitchFamily="2" charset="0"/>
              </a:rPr>
              <a:t>Canal </a:t>
            </a:r>
            <a:r>
              <a:rPr lang="es-ES" sz="1000" b="1" dirty="0">
                <a:latin typeface="Montserrat" panose="00000500000000000000" pitchFamily="2" charset="0"/>
              </a:rPr>
              <a:t>CORPORATE</a:t>
            </a:r>
            <a:r>
              <a:rPr lang="es-ES" sz="1000" dirty="0">
                <a:latin typeface="Montserrat" panose="00000500000000000000" pitchFamily="2" charset="0"/>
              </a:rPr>
              <a:t> es de los canales con menor precio promedio. Podría ser un indicativo de pocas cancelaciones.</a:t>
            </a:r>
          </a:p>
          <a:p>
            <a:endParaRPr lang="es-ES" dirty="0"/>
          </a:p>
          <a:p>
            <a:r>
              <a:rPr lang="es-ES" sz="1000" dirty="0">
                <a:latin typeface="Montserrat" panose="00000500000000000000" pitchFamily="2" charset="0"/>
              </a:rPr>
              <a:t>Canal </a:t>
            </a:r>
            <a:r>
              <a:rPr lang="es-ES" sz="1000" b="1" dirty="0">
                <a:latin typeface="Montserrat" panose="00000500000000000000" pitchFamily="2" charset="0"/>
              </a:rPr>
              <a:t>OFFLINE</a:t>
            </a:r>
            <a:r>
              <a:rPr lang="es-ES" sz="1000" dirty="0">
                <a:latin typeface="Montserrat" panose="00000500000000000000" pitchFamily="2" charset="0"/>
              </a:rPr>
              <a:t> en el escalón intermedio entre ON y COR.</a:t>
            </a:r>
          </a:p>
        </p:txBody>
      </p:sp>
    </p:spTree>
    <p:extLst>
      <p:ext uri="{BB962C8B-B14F-4D97-AF65-F5344CB8AC3E}">
        <p14:creationId xmlns:p14="http://schemas.microsoft.com/office/powerpoint/2010/main" val="549718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FF65DE42-92EA-0D11-E389-5329917E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0951CF2D-84C7-98CA-4457-B12AA3F58C38}"/>
              </a:ext>
            </a:extLst>
          </p:cNvPr>
          <p:cNvSpPr txBox="1"/>
          <p:nvPr/>
        </p:nvSpPr>
        <p:spPr>
          <a:xfrm>
            <a:off x="70902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es-ES" sz="2600" dirty="0">
                <a:solidFill>
                  <a:schemeClr val="bg1">
                    <a:lumMod val="85000"/>
                  </a:schemeClr>
                </a:solidFill>
                <a:latin typeface="Montserrat SemiBold"/>
                <a:sym typeface="Montserrat SemiBold"/>
              </a:rPr>
              <a:t>ANÁLISIS EXPLORATIORIO (EDA)</a:t>
            </a:r>
            <a:endParaRPr lang="es-ES" sz="2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F04A5B8C-6B86-563D-4E70-2D64093F1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2D62EDDF-FBE8-30D7-996B-41EFA2DDD98B}"/>
              </a:ext>
            </a:extLst>
          </p:cNvPr>
          <p:cNvSpPr txBox="1"/>
          <p:nvPr/>
        </p:nvSpPr>
        <p:spPr>
          <a:xfrm>
            <a:off x="907471" y="3937655"/>
            <a:ext cx="7329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4B9A64C-2C18-4E00-E661-572239267517}"/>
              </a:ext>
            </a:extLst>
          </p:cNvPr>
          <p:cNvSpPr txBox="1"/>
          <p:nvPr/>
        </p:nvSpPr>
        <p:spPr>
          <a:xfrm>
            <a:off x="6681626" y="1795573"/>
            <a:ext cx="20130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Montserrat" panose="00000500000000000000" pitchFamily="2" charset="0"/>
              </a:rPr>
              <a:t>Octubre</a:t>
            </a:r>
            <a:r>
              <a:rPr lang="es-ES" sz="1000" dirty="0">
                <a:latin typeface="Montserrat" panose="00000500000000000000" pitchFamily="2" charset="0"/>
              </a:rPr>
              <a:t> es el mes con mas cancelaciones pero a su vez con mas reservas. El mes donde proporcionalmente hay mas reservas canceladas son </a:t>
            </a:r>
            <a:r>
              <a:rPr lang="es-ES" sz="1000" b="1" dirty="0">
                <a:latin typeface="Montserrat" panose="00000500000000000000" pitchFamily="2" charset="0"/>
              </a:rPr>
              <a:t>Julio y Junio</a:t>
            </a:r>
            <a:r>
              <a:rPr lang="es-ES" sz="1000" dirty="0">
                <a:latin typeface="Montserrat" panose="00000500000000000000" pitchFamily="2" charset="0"/>
              </a:rPr>
              <a:t>. Los meses que menos cancelaciones vemos son en Enero, Noviembre y Diciembre.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EC62F15-2B33-CC94-757E-B4DBB0E7D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5" y="1284707"/>
            <a:ext cx="6399391" cy="298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66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2D83DEF2-2BB1-E4D7-6FD7-35325F17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0671213C-A60E-6F42-865E-B0E1AC3AF55D}"/>
              </a:ext>
            </a:extLst>
          </p:cNvPr>
          <p:cNvSpPr txBox="1"/>
          <p:nvPr/>
        </p:nvSpPr>
        <p:spPr>
          <a:xfrm>
            <a:off x="70902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es-ES" sz="2600" dirty="0">
                <a:solidFill>
                  <a:schemeClr val="bg1">
                    <a:lumMod val="85000"/>
                  </a:schemeClr>
                </a:solidFill>
                <a:latin typeface="Montserrat SemiBold"/>
                <a:sym typeface="Montserrat SemiBold"/>
              </a:rPr>
              <a:t>ANÁLISIS EXPLORATIORIO (EDA)</a:t>
            </a:r>
            <a:endParaRPr lang="es-ES" sz="2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142AB98-A3A2-FB32-DCCA-4B70CDC2E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14113FA1-ABC8-5032-FB07-3FA7CF60CFDE}"/>
              </a:ext>
            </a:extLst>
          </p:cNvPr>
          <p:cNvSpPr txBox="1"/>
          <p:nvPr/>
        </p:nvSpPr>
        <p:spPr>
          <a:xfrm>
            <a:off x="907471" y="3937655"/>
            <a:ext cx="7329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D6A59C4-2966-C5F7-694E-58971498F913}"/>
              </a:ext>
            </a:extLst>
          </p:cNvPr>
          <p:cNvSpPr txBox="1"/>
          <p:nvPr/>
        </p:nvSpPr>
        <p:spPr>
          <a:xfrm>
            <a:off x="5703431" y="1137778"/>
            <a:ext cx="330122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latin typeface="Montserrat" panose="00000500000000000000" pitchFamily="2" charset="0"/>
              </a:rPr>
              <a:t>LEAD TIME vs CANCELACION: </a:t>
            </a:r>
            <a:r>
              <a:rPr lang="es-ES" sz="1000" dirty="0">
                <a:latin typeface="Montserrat" panose="00000500000000000000" pitchFamily="2" charset="0"/>
              </a:rPr>
              <a:t>Las reservas canceladas tienden a mayor lead time. Las no canceladas se concentran en valores bajos de anticipación.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latin typeface="Montserrat" panose="00000500000000000000" pitchFamily="2" charset="0"/>
              </a:rPr>
              <a:t>AVERAGE PRICE: </a:t>
            </a:r>
            <a:br>
              <a:rPr lang="es-ES" sz="1000" b="1" dirty="0">
                <a:latin typeface="Montserrat" panose="00000500000000000000" pitchFamily="2" charset="0"/>
              </a:rPr>
            </a:br>
            <a:r>
              <a:rPr lang="es-ES" sz="1000" dirty="0">
                <a:latin typeface="Montserrat" panose="00000500000000000000" pitchFamily="2" charset="0"/>
              </a:rPr>
              <a:t>Aunque hay reservas canceladas y no canceladas en todos los rangos de precio,</a:t>
            </a:r>
            <a:br>
              <a:rPr lang="es-ES" sz="1000" dirty="0">
                <a:latin typeface="Montserrat" panose="00000500000000000000" pitchFamily="2" charset="0"/>
              </a:rPr>
            </a:br>
            <a:r>
              <a:rPr lang="es-ES" sz="1000" dirty="0">
                <a:latin typeface="Montserrat" panose="00000500000000000000" pitchFamily="2" charset="0"/>
              </a:rPr>
              <a:t>las canceladas tienden a concentrarse levemente entre los €50-125.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latin typeface="Montserrat" panose="00000500000000000000" pitchFamily="2" charset="0"/>
              </a:rPr>
              <a:t>NÚMEROS DE ADULTOS: </a:t>
            </a:r>
            <a:br>
              <a:rPr lang="es-ES" sz="1000" b="1" dirty="0">
                <a:latin typeface="Montserrat" panose="00000500000000000000" pitchFamily="2" charset="0"/>
              </a:rPr>
            </a:br>
            <a:r>
              <a:rPr lang="es-ES" sz="1000" dirty="0">
                <a:latin typeface="Montserrat" panose="00000500000000000000" pitchFamily="2" charset="0"/>
              </a:rPr>
              <a:t>No se observa una gran variación: la mayoría de las reservas son para 1 o 2 adultos. Las cancelaciones se reparten proporcionalmente, aunque con leve predominancia en grupos de 1.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latin typeface="Montserrat" panose="00000500000000000000" pitchFamily="2" charset="0"/>
              </a:rPr>
              <a:t>SPECIAL REQUESTS</a:t>
            </a:r>
            <a:r>
              <a:rPr lang="es-ES" sz="1000" dirty="0">
                <a:latin typeface="Montserrat" panose="00000500000000000000" pitchFamily="2" charset="0"/>
              </a:rPr>
              <a:t>: La mayoría de las reservas con más de 2 pedidos especiales no son </a:t>
            </a:r>
            <a:r>
              <a:rPr lang="es-ES" sz="1000" dirty="0" err="1">
                <a:latin typeface="Montserrat" panose="00000500000000000000" pitchFamily="2" charset="0"/>
              </a:rPr>
              <a:t>canceladas.Las</a:t>
            </a:r>
            <a:r>
              <a:rPr lang="es-ES" sz="1000" dirty="0">
                <a:latin typeface="Montserrat" panose="00000500000000000000" pitchFamily="2" charset="0"/>
              </a:rPr>
              <a:t> canceladas suelen tener pocos o ningún pedido especial.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C9886DC-6BD1-AE57-F00D-28DC88E31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59" y="609931"/>
            <a:ext cx="4886791" cy="438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471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3B9D9C9E-498D-78AF-FBEB-62196AEA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1EE96240-C630-C535-826A-4A547EB608D9}"/>
              </a:ext>
            </a:extLst>
          </p:cNvPr>
          <p:cNvSpPr txBox="1"/>
          <p:nvPr/>
        </p:nvSpPr>
        <p:spPr>
          <a:xfrm>
            <a:off x="327211" y="86746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2600" dirty="0">
                <a:solidFill>
                  <a:schemeClr val="accent3"/>
                </a:solidFill>
                <a:latin typeface="Montserrat SemiBold"/>
                <a:sym typeface="Montserrat SemiBold"/>
              </a:rPr>
              <a:t>CONCLUSIONES DEL EDA</a:t>
            </a:r>
            <a:endParaRPr sz="2600" dirty="0">
              <a:solidFill>
                <a:schemeClr val="accent3"/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19469A3A-9734-D21F-E8C1-A08D1046A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439F9F8-5724-DF1E-E0E1-1A9E3A3923DE}"/>
              </a:ext>
            </a:extLst>
          </p:cNvPr>
          <p:cNvSpPr txBox="1"/>
          <p:nvPr/>
        </p:nvSpPr>
        <p:spPr>
          <a:xfrm>
            <a:off x="775854" y="977541"/>
            <a:ext cx="774469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💥 </a:t>
            </a:r>
            <a:r>
              <a:rPr lang="es-ES" sz="1000" b="1" dirty="0">
                <a:latin typeface="Montserrat" panose="00000500000000000000" pitchFamily="2" charset="0"/>
              </a:rPr>
              <a:t>1 de cada 3 reservas se cancela</a:t>
            </a:r>
            <a:r>
              <a:rPr lang="es-ES" sz="1000" dirty="0">
                <a:latin typeface="Montserrat" panose="00000500000000000000" pitchFamily="2" charset="0"/>
              </a:rPr>
              <a:t>: Un 33% de cancelaciones implica una pérdida importante de ingresos y problemas de planificación para el negocio.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r>
              <a:rPr lang="es-ES" sz="1000" dirty="0">
                <a:latin typeface="Montserrat" panose="00000500000000000000" pitchFamily="2" charset="0"/>
              </a:rPr>
              <a:t>⏳ </a:t>
            </a:r>
            <a:r>
              <a:rPr lang="es-ES" sz="1000" b="1" dirty="0">
                <a:latin typeface="Montserrat" panose="00000500000000000000" pitchFamily="2" charset="0"/>
              </a:rPr>
              <a:t>Reservas anticipadas se cancelan más</a:t>
            </a:r>
            <a:r>
              <a:rPr lang="es-ES" sz="1000" dirty="0">
                <a:latin typeface="Montserrat" panose="00000500000000000000" pitchFamily="2" charset="0"/>
              </a:rPr>
              <a:t>: A mayor lead time, mayor probabilidad de arrepentimiento o cambio de planes.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r>
              <a:rPr lang="es-ES" sz="1000" dirty="0">
                <a:latin typeface="Montserrat" panose="00000500000000000000" pitchFamily="2" charset="0"/>
              </a:rPr>
              <a:t>🔁 </a:t>
            </a:r>
            <a:r>
              <a:rPr lang="es-ES" sz="1000" b="1" dirty="0">
                <a:latin typeface="Montserrat" panose="00000500000000000000" pitchFamily="2" charset="0"/>
              </a:rPr>
              <a:t>Clientes repetitivos cancelan menos:</a:t>
            </a:r>
            <a:r>
              <a:rPr lang="es-ES" sz="1000" dirty="0">
                <a:latin typeface="Montserrat" panose="00000500000000000000" pitchFamily="2" charset="0"/>
              </a:rPr>
              <a:t> La fidelización reduce el riesgo de cancelación. Son clientes más confiables y con mayor compromiso.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r>
              <a:rPr lang="es-ES" sz="1000" dirty="0">
                <a:latin typeface="Montserrat" panose="00000500000000000000" pitchFamily="2" charset="0"/>
              </a:rPr>
              <a:t>✉️ </a:t>
            </a:r>
            <a:r>
              <a:rPr lang="es-ES" sz="1000" b="1" dirty="0">
                <a:latin typeface="Montserrat" panose="00000500000000000000" pitchFamily="2" charset="0"/>
              </a:rPr>
              <a:t>Pedidos especiales reflejan intención real de hospedarse</a:t>
            </a:r>
            <a:r>
              <a:rPr lang="es-ES" sz="1000" dirty="0">
                <a:latin typeface="Montserrat" panose="00000500000000000000" pitchFamily="2" charset="0"/>
              </a:rPr>
              <a:t>: Los huéspedes que personalizan su estadía cancelan con menos frecuencia.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r>
              <a:rPr lang="es-ES" sz="1000" dirty="0">
                <a:latin typeface="Montserrat" panose="00000500000000000000" pitchFamily="2" charset="0"/>
              </a:rPr>
              <a:t>🌐 </a:t>
            </a:r>
            <a:r>
              <a:rPr lang="es-ES" sz="1000" b="1" dirty="0">
                <a:latin typeface="Montserrat" panose="00000500000000000000" pitchFamily="2" charset="0"/>
              </a:rPr>
              <a:t>El canal online tiene más cancelaciones</a:t>
            </a:r>
            <a:r>
              <a:rPr lang="es-ES" sz="1000" dirty="0">
                <a:latin typeface="Montserrat" panose="00000500000000000000" pitchFamily="2" charset="0"/>
              </a:rPr>
              <a:t>: Las reservas hechas en internet muestran mayor volatilidad. Se recomienda revisar políticas comerciales según canal.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r>
              <a:rPr lang="es-ES" sz="1000" b="1" dirty="0">
                <a:latin typeface="Montserrat" panose="00000500000000000000" pitchFamily="2" charset="0"/>
              </a:rPr>
              <a:t>💸 El precio promedio no es determinante directo</a:t>
            </a:r>
            <a:r>
              <a:rPr lang="es-ES" sz="1000" dirty="0">
                <a:latin typeface="Montserrat" panose="00000500000000000000" pitchFamily="2" charset="0"/>
              </a:rPr>
              <a:t>: No se observó una relación clara entre el valor pagado y la cancelación.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r>
              <a:rPr lang="es-ES" sz="1000" dirty="0">
                <a:latin typeface="Montserrat" panose="00000500000000000000" pitchFamily="2" charset="0"/>
              </a:rPr>
              <a:t>☀️ </a:t>
            </a:r>
            <a:r>
              <a:rPr lang="es-ES" sz="1000" b="1" dirty="0">
                <a:latin typeface="Montserrat" panose="00000500000000000000" pitchFamily="2" charset="0"/>
              </a:rPr>
              <a:t>Verano europeo = pico de cancelaciones</a:t>
            </a:r>
            <a:r>
              <a:rPr lang="es-ES" sz="1000" dirty="0">
                <a:latin typeface="Montserrat" panose="00000500000000000000" pitchFamily="2" charset="0"/>
              </a:rPr>
              <a:t>: Los meses de junio, julio y agosto concentran la mayor proporción de cancelaciones.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r>
              <a:rPr lang="es-ES" sz="1000" dirty="0">
                <a:latin typeface="Montserrat" panose="00000500000000000000" pitchFamily="2" charset="0"/>
              </a:rPr>
              <a:t>🧩 </a:t>
            </a:r>
            <a:r>
              <a:rPr lang="es-ES" sz="1000" b="1" dirty="0">
                <a:latin typeface="Montserrat" panose="00000500000000000000" pitchFamily="2" charset="0"/>
              </a:rPr>
              <a:t>La combinación de variables da más poder explicativo</a:t>
            </a:r>
            <a:r>
              <a:rPr lang="es-ES" sz="1000" dirty="0">
                <a:latin typeface="Montserrat" panose="00000500000000000000" pitchFamily="2" charset="0"/>
              </a:rPr>
              <a:t>: No hay un único factor que prediga la cancelación, sino interacciones entre lead time, canal, pedidos y tipo de cliente.</a:t>
            </a:r>
          </a:p>
        </p:txBody>
      </p:sp>
    </p:spTree>
    <p:extLst>
      <p:ext uri="{BB962C8B-B14F-4D97-AF65-F5344CB8AC3E}">
        <p14:creationId xmlns:p14="http://schemas.microsoft.com/office/powerpoint/2010/main" val="1356377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74043A95-B8D7-4272-9885-F5E04D390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81F1D96C-C9F6-96C9-1ACF-7CE308CAE084}"/>
              </a:ext>
            </a:extLst>
          </p:cNvPr>
          <p:cNvSpPr txBox="1"/>
          <p:nvPr/>
        </p:nvSpPr>
        <p:spPr>
          <a:xfrm>
            <a:off x="356011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dirty="0">
                <a:solidFill>
                  <a:schemeClr val="accent3"/>
                </a:solidFill>
              </a:rPr>
              <a:t>ML: MODELO DE CLASIFICACIÓN</a:t>
            </a:r>
            <a:endParaRPr sz="2600" dirty="0">
              <a:solidFill>
                <a:schemeClr val="accent3"/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305758A0-1186-0A82-1998-1F7B1CD1A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0736F1C-62CC-AF41-A3C1-ABF5E931AAD7}"/>
              </a:ext>
            </a:extLst>
          </p:cNvPr>
          <p:cNvSpPr txBox="1"/>
          <p:nvPr/>
        </p:nvSpPr>
        <p:spPr>
          <a:xfrm>
            <a:off x="681470" y="1316638"/>
            <a:ext cx="767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🔍 </a:t>
            </a:r>
            <a:r>
              <a:rPr lang="es-ES" sz="1000" i="1" dirty="0">
                <a:latin typeface="Montserrat" panose="00000500000000000000" pitchFamily="2" charset="0"/>
              </a:rPr>
              <a:t>Variable Objetivo: </a:t>
            </a:r>
            <a:r>
              <a:rPr lang="es-ES" sz="1000" dirty="0" err="1">
                <a:latin typeface="Montserrat" panose="00000500000000000000" pitchFamily="2" charset="0"/>
              </a:rPr>
              <a:t>booking_status</a:t>
            </a:r>
            <a:r>
              <a:rPr lang="es-ES" sz="1000" dirty="0">
                <a:latin typeface="Montserrat" panose="00000500000000000000" pitchFamily="2" charset="0"/>
              </a:rPr>
              <a:t>: Cancelada (1) / No Cancelada (0)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r>
              <a:rPr lang="es-ES" sz="1000" dirty="0">
                <a:latin typeface="Montserrat" panose="00000500000000000000" pitchFamily="2" charset="0"/>
              </a:rPr>
              <a:t>	</a:t>
            </a:r>
            <a:r>
              <a:rPr lang="es-ES" sz="1000" i="1" dirty="0">
                <a:latin typeface="Montserrat" panose="00000500000000000000" pitchFamily="2" charset="0"/>
              </a:rPr>
              <a:t>Objetivo: Anticipar si una reserva será cancelada</a:t>
            </a:r>
          </a:p>
          <a:p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93E506C-8709-30FE-1980-00765172C0FA}"/>
              </a:ext>
            </a:extLst>
          </p:cNvPr>
          <p:cNvSpPr txBox="1"/>
          <p:nvPr/>
        </p:nvSpPr>
        <p:spPr>
          <a:xfrm>
            <a:off x="271070" y="793418"/>
            <a:ext cx="5841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Montserrat" panose="00000500000000000000" pitchFamily="2" charset="0"/>
              </a:rPr>
              <a:t> 🎯 </a:t>
            </a:r>
            <a:r>
              <a:rPr lang="es-ES" b="1" dirty="0">
                <a:latin typeface="Montserrat" panose="00000500000000000000" pitchFamily="2" charset="0"/>
              </a:rPr>
              <a:t>Predicción de Cancelaciones</a:t>
            </a:r>
            <a:r>
              <a:rPr lang="es-ES" dirty="0">
                <a:latin typeface="Montserrat" panose="00000500000000000000" pitchFamily="2" charset="0"/>
              </a:rPr>
              <a:t>: Variables y Modelos</a:t>
            </a:r>
          </a:p>
          <a:p>
            <a:endParaRPr lang="es-ES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B5FB9E5-0C85-1A38-B927-A7F011DDF6F3}"/>
              </a:ext>
            </a:extLst>
          </p:cNvPr>
          <p:cNvSpPr txBox="1"/>
          <p:nvPr/>
        </p:nvSpPr>
        <p:spPr>
          <a:xfrm>
            <a:off x="777600" y="2080800"/>
            <a:ext cx="668416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🧩 </a:t>
            </a:r>
            <a:r>
              <a:rPr lang="es-ES" sz="1000" dirty="0">
                <a:latin typeface="Montserrat" panose="00000500000000000000" pitchFamily="2" charset="0"/>
              </a:rPr>
              <a:t>Variables Predictoras Seleccionadas: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r>
              <a:rPr lang="es-ES" sz="1000" dirty="0">
                <a:latin typeface="Montserrat" panose="00000500000000000000" pitchFamily="2" charset="0"/>
              </a:rPr>
              <a:t>- Basadas en análisis exploratorio y </a:t>
            </a:r>
            <a:r>
              <a:rPr lang="es-ES" sz="1000" dirty="0" err="1">
                <a:latin typeface="Montserrat" panose="00000500000000000000" pitchFamily="2" charset="0"/>
              </a:rPr>
              <a:t>feature</a:t>
            </a:r>
            <a:r>
              <a:rPr lang="es-ES" sz="1000" dirty="0">
                <a:latin typeface="Montserrat" panose="00000500000000000000" pitchFamily="2" charset="0"/>
              </a:rPr>
              <a:t> </a:t>
            </a:r>
            <a:r>
              <a:rPr lang="es-ES" sz="1000" dirty="0" err="1">
                <a:latin typeface="Montserrat" panose="00000500000000000000" pitchFamily="2" charset="0"/>
              </a:rPr>
              <a:t>engineering</a:t>
            </a:r>
            <a:r>
              <a:rPr lang="es-ES" sz="1000" dirty="0">
                <a:latin typeface="Montserrat" panose="00000500000000000000" pitchFamily="2" charset="0"/>
              </a:rPr>
              <a:t>: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 err="1">
                <a:latin typeface="Montserrat" panose="00000500000000000000" pitchFamily="2" charset="0"/>
              </a:rPr>
              <a:t>market_segment_type</a:t>
            </a:r>
            <a:r>
              <a:rPr lang="es-ES" sz="1000" dirty="0">
                <a:latin typeface="Montserrat" panose="00000500000000000000" pitchFamily="2" charset="0"/>
              </a:rPr>
              <a:t>: Canal de reserva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 err="1">
                <a:latin typeface="Montserrat" panose="00000500000000000000" pitchFamily="2" charset="0"/>
              </a:rPr>
              <a:t>special_requests</a:t>
            </a:r>
            <a:r>
              <a:rPr lang="es-ES" sz="1000" dirty="0">
                <a:latin typeface="Montserrat" panose="00000500000000000000" pitchFamily="2" charset="0"/>
              </a:rPr>
              <a:t>: Pedidos especiales realizados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 err="1">
                <a:latin typeface="Montserrat" panose="00000500000000000000" pitchFamily="2" charset="0"/>
              </a:rPr>
              <a:t>repeated</a:t>
            </a:r>
            <a:r>
              <a:rPr lang="es-ES" sz="1000" dirty="0">
                <a:latin typeface="Montserrat" panose="00000500000000000000" pitchFamily="2" charset="0"/>
              </a:rPr>
              <a:t>: Cliente recurrente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 err="1">
                <a:latin typeface="Montserrat" panose="00000500000000000000" pitchFamily="2" charset="0"/>
              </a:rPr>
              <a:t>season</a:t>
            </a:r>
            <a:r>
              <a:rPr lang="es-ES" sz="1000" dirty="0">
                <a:latin typeface="Montserrat" panose="00000500000000000000" pitchFamily="2" charset="0"/>
              </a:rPr>
              <a:t>: Estación del año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 err="1">
                <a:latin typeface="Montserrat" panose="00000500000000000000" pitchFamily="2" charset="0"/>
              </a:rPr>
              <a:t>lead_time_category</a:t>
            </a:r>
            <a:r>
              <a:rPr lang="es-ES" sz="1000" dirty="0">
                <a:latin typeface="Montserrat" panose="00000500000000000000" pitchFamily="2" charset="0"/>
              </a:rPr>
              <a:t>: Anticipación de la reserva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 err="1">
                <a:latin typeface="Montserrat" panose="00000500000000000000" pitchFamily="2" charset="0"/>
              </a:rPr>
              <a:t>total_nights</a:t>
            </a:r>
            <a:r>
              <a:rPr lang="es-ES" sz="1000" dirty="0">
                <a:latin typeface="Montserrat" panose="00000500000000000000" pitchFamily="2" charset="0"/>
              </a:rPr>
              <a:t>: Duración total de la estadía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 err="1">
                <a:latin typeface="Montserrat" panose="00000500000000000000" pitchFamily="2" charset="0"/>
              </a:rPr>
              <a:t>total_guests</a:t>
            </a:r>
            <a:r>
              <a:rPr lang="es-ES" sz="1000" dirty="0">
                <a:latin typeface="Montserrat" panose="00000500000000000000" pitchFamily="2" charset="0"/>
              </a:rPr>
              <a:t>: Número total de personas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 err="1">
                <a:latin typeface="Montserrat" panose="00000500000000000000" pitchFamily="2" charset="0"/>
              </a:rPr>
              <a:t>room_type</a:t>
            </a:r>
            <a:r>
              <a:rPr lang="es-ES" sz="1000" dirty="0">
                <a:latin typeface="Montserrat" panose="00000500000000000000" pitchFamily="2" charset="0"/>
              </a:rPr>
              <a:t>: Tipo de habitación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 err="1">
                <a:latin typeface="Montserrat" panose="00000500000000000000" pitchFamily="2" charset="0"/>
              </a:rPr>
              <a:t>average_price</a:t>
            </a:r>
            <a:r>
              <a:rPr lang="es-ES" sz="1000" dirty="0">
                <a:latin typeface="Montserrat" panose="00000500000000000000" pitchFamily="2" charset="0"/>
              </a:rPr>
              <a:t>: Precio promedio por noche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0947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EAF3720-43AF-7E01-92B9-4404671F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473FC056-DAD8-851B-EEEE-D1EAB1C0C78A}"/>
              </a:ext>
            </a:extLst>
          </p:cNvPr>
          <p:cNvSpPr txBox="1"/>
          <p:nvPr/>
        </p:nvSpPr>
        <p:spPr>
          <a:xfrm>
            <a:off x="356011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dirty="0">
                <a:solidFill>
                  <a:schemeClr val="accent3"/>
                </a:solidFill>
              </a:rPr>
              <a:t>ML: MODELO DE CLASIFICACIÓN</a:t>
            </a:r>
            <a:endParaRPr sz="2600" dirty="0">
              <a:solidFill>
                <a:schemeClr val="accent3"/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DA009502-E837-D9ED-924F-386290292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997F801-08D7-C78A-984A-AE7015B70C1D}"/>
              </a:ext>
            </a:extLst>
          </p:cNvPr>
          <p:cNvSpPr txBox="1"/>
          <p:nvPr/>
        </p:nvSpPr>
        <p:spPr>
          <a:xfrm>
            <a:off x="741845" y="1316638"/>
            <a:ext cx="76705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Montserrat" panose="00000500000000000000" pitchFamily="2" charset="0"/>
              </a:rPr>
              <a:t>Modelos Utilizados en Primera Instancia</a:t>
            </a:r>
          </a:p>
          <a:p>
            <a:r>
              <a:rPr lang="es-ES" sz="1000" dirty="0">
                <a:latin typeface="Montserrat" panose="00000500000000000000" pitchFamily="2" charset="0"/>
              </a:rPr>
              <a:t> 	- Árbol de Decisión</a:t>
            </a:r>
          </a:p>
          <a:p>
            <a:r>
              <a:rPr lang="es-ES" sz="1000" dirty="0">
                <a:latin typeface="Montserrat" panose="00000500000000000000" pitchFamily="2" charset="0"/>
              </a:rPr>
              <a:t>	- </a:t>
            </a:r>
            <a:r>
              <a:rPr lang="es-ES" sz="1000" dirty="0" err="1">
                <a:latin typeface="Montserrat" panose="00000500000000000000" pitchFamily="2" charset="0"/>
              </a:rPr>
              <a:t>Random</a:t>
            </a:r>
            <a:r>
              <a:rPr lang="es-ES" sz="1000" dirty="0">
                <a:latin typeface="Montserrat" panose="00000500000000000000" pitchFamily="2" charset="0"/>
              </a:rPr>
              <a:t> Forest</a:t>
            </a:r>
          </a:p>
          <a:p>
            <a:r>
              <a:rPr lang="es-ES" sz="1000" dirty="0">
                <a:latin typeface="Montserrat" panose="00000500000000000000" pitchFamily="2" charset="0"/>
              </a:rPr>
              <a:t>	- </a:t>
            </a:r>
            <a:r>
              <a:rPr lang="es-ES" sz="1000" dirty="0" err="1">
                <a:latin typeface="Montserrat" panose="00000500000000000000" pitchFamily="2" charset="0"/>
              </a:rPr>
              <a:t>XGBoost</a:t>
            </a:r>
            <a:endParaRPr lang="es-ES" sz="1000" dirty="0">
              <a:latin typeface="Montserrat" panose="00000500000000000000" pitchFamily="2" charset="0"/>
            </a:endParaRPr>
          </a:p>
          <a:p>
            <a:r>
              <a:rPr lang="es-ES" sz="1000" dirty="0">
                <a:latin typeface="Montserrat" panose="00000500000000000000" pitchFamily="2" charset="0"/>
              </a:rPr>
              <a:t>	</a:t>
            </a:r>
          </a:p>
          <a:p>
            <a:endParaRPr lang="es-ES" sz="1000" dirty="0">
              <a:latin typeface="Montserrat" panose="00000500000000000000" pitchFamily="2" charset="0"/>
            </a:endParaRPr>
          </a:p>
          <a:p>
            <a:r>
              <a:rPr lang="es-ES" sz="1000" dirty="0">
                <a:latin typeface="Montserrat" panose="00000500000000000000" pitchFamily="2" charset="0"/>
              </a:rPr>
              <a:t>📌 Criterio de Éxito:</a:t>
            </a:r>
            <a:br>
              <a:rPr lang="es-ES" sz="1000" dirty="0">
                <a:latin typeface="Montserrat" panose="00000500000000000000" pitchFamily="2" charset="0"/>
              </a:rPr>
            </a:br>
            <a:r>
              <a:rPr lang="es-ES" sz="1000" dirty="0">
                <a:latin typeface="Montserrat" panose="00000500000000000000" pitchFamily="2" charset="0"/>
              </a:rPr>
              <a:t>Priorizar alto </a:t>
            </a:r>
            <a:r>
              <a:rPr lang="es-ES" sz="1000" dirty="0" err="1">
                <a:latin typeface="Montserrat" panose="00000500000000000000" pitchFamily="2" charset="0"/>
              </a:rPr>
              <a:t>recall</a:t>
            </a:r>
            <a:r>
              <a:rPr lang="es-ES" sz="1000" dirty="0">
                <a:latin typeface="Montserrat" panose="00000500000000000000" pitchFamily="2" charset="0"/>
              </a:rPr>
              <a:t> en la clase “Cancelada” para minimizar falsos negativos</a:t>
            </a:r>
          </a:p>
          <a:p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AC558E3-E08B-DCF0-AAF7-F5538BD1B390}"/>
              </a:ext>
            </a:extLst>
          </p:cNvPr>
          <p:cNvSpPr txBox="1"/>
          <p:nvPr/>
        </p:nvSpPr>
        <p:spPr>
          <a:xfrm>
            <a:off x="271070" y="793418"/>
            <a:ext cx="5841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Montserrat" panose="00000500000000000000" pitchFamily="2" charset="0"/>
              </a:rPr>
              <a:t> 🎯 </a:t>
            </a:r>
            <a:r>
              <a:rPr lang="es-ES" b="1" dirty="0">
                <a:latin typeface="Montserrat" panose="00000500000000000000" pitchFamily="2" charset="0"/>
              </a:rPr>
              <a:t>Predicción de Cancelaciones</a:t>
            </a:r>
            <a:r>
              <a:rPr lang="es-ES" dirty="0">
                <a:latin typeface="Montserrat" panose="00000500000000000000" pitchFamily="2" charset="0"/>
              </a:rPr>
              <a:t>: Variables y Modelos</a:t>
            </a:r>
          </a:p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EA4690B-6E4D-277C-230D-EAB6C1C75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555" y="2799883"/>
            <a:ext cx="7545600" cy="205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920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E4CBF326-9861-1E6B-4369-3B30B56F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956A4B10-B3EE-19A6-5234-6A5A251CDB57}"/>
              </a:ext>
            </a:extLst>
          </p:cNvPr>
          <p:cNvSpPr txBox="1"/>
          <p:nvPr/>
        </p:nvSpPr>
        <p:spPr>
          <a:xfrm>
            <a:off x="356011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dirty="0">
                <a:solidFill>
                  <a:schemeClr val="accent3"/>
                </a:solidFill>
              </a:rPr>
              <a:t>ML: MODELO DE CLASIFICACIÓN</a:t>
            </a:r>
            <a:endParaRPr sz="2600" dirty="0">
              <a:solidFill>
                <a:schemeClr val="accent3"/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A34F36A3-5BD1-5B8C-C4AD-CEF601006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C6C3432A-9D73-4CB9-747D-5392B294C30E}"/>
              </a:ext>
            </a:extLst>
          </p:cNvPr>
          <p:cNvSpPr txBox="1"/>
          <p:nvPr/>
        </p:nvSpPr>
        <p:spPr>
          <a:xfrm>
            <a:off x="271070" y="793418"/>
            <a:ext cx="5841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Montserrat" panose="00000500000000000000" pitchFamily="2" charset="0"/>
              </a:rPr>
              <a:t> 🎯 </a:t>
            </a:r>
            <a:r>
              <a:rPr lang="es-ES" b="1" dirty="0">
                <a:latin typeface="Montserrat" panose="00000500000000000000" pitchFamily="2" charset="0"/>
              </a:rPr>
              <a:t>Predicción de Cancelaciones</a:t>
            </a:r>
            <a:r>
              <a:rPr lang="es-ES" dirty="0">
                <a:latin typeface="Montserrat" panose="00000500000000000000" pitchFamily="2" charset="0"/>
              </a:rPr>
              <a:t>: Variables y Modelos</a:t>
            </a:r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AF1DED3-32F9-EEBF-5458-8836AA194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48" y="1432746"/>
            <a:ext cx="2379251" cy="142458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A5E503F-92DA-08E1-B54E-0B32F261D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7166" y="1486142"/>
            <a:ext cx="2477619" cy="139521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DE754A1-204F-D69A-A493-9F318B2D24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765" y="1432746"/>
            <a:ext cx="2477619" cy="144860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BEBD665-E74F-421F-1A3C-9C2C0BA33CE9}"/>
              </a:ext>
            </a:extLst>
          </p:cNvPr>
          <p:cNvSpPr txBox="1"/>
          <p:nvPr/>
        </p:nvSpPr>
        <p:spPr>
          <a:xfrm>
            <a:off x="741845" y="3395750"/>
            <a:ext cx="7670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Montserrat" panose="00000500000000000000" pitchFamily="2" charset="0"/>
              </a:rPr>
              <a:t>Modelo mas eficiente: </a:t>
            </a:r>
          </a:p>
          <a:p>
            <a:endParaRPr lang="es-ES" sz="1000" b="1" dirty="0">
              <a:latin typeface="Montserrat" panose="00000500000000000000" pitchFamily="2" charset="0"/>
            </a:endParaRPr>
          </a:p>
          <a:p>
            <a:r>
              <a:rPr lang="es-ES" sz="1000" b="1" dirty="0">
                <a:latin typeface="Montserrat" panose="00000500000000000000" pitchFamily="2" charset="0"/>
              </a:rPr>
              <a:t>	</a:t>
            </a:r>
            <a:r>
              <a:rPr lang="es-ES" sz="1000" dirty="0">
                <a:latin typeface="Montserrat" panose="00000500000000000000" pitchFamily="2" charset="0"/>
              </a:rPr>
              <a:t>En primera instancia, el </a:t>
            </a:r>
            <a:r>
              <a:rPr lang="es-ES" sz="1000" dirty="0" err="1">
                <a:latin typeface="Montserrat" panose="00000500000000000000" pitchFamily="2" charset="0"/>
              </a:rPr>
              <a:t>Random</a:t>
            </a:r>
            <a:r>
              <a:rPr lang="es-ES" sz="1000" dirty="0">
                <a:latin typeface="Montserrat" panose="00000500000000000000" pitchFamily="2" charset="0"/>
              </a:rPr>
              <a:t> Forest </a:t>
            </a:r>
            <a:r>
              <a:rPr lang="es-ES" sz="1000" dirty="0" err="1">
                <a:latin typeface="Montserrat" panose="00000500000000000000" pitchFamily="2" charset="0"/>
              </a:rPr>
              <a:t>Classifier</a:t>
            </a:r>
            <a:r>
              <a:rPr lang="es-ES" sz="1000" dirty="0">
                <a:latin typeface="Montserrat" panose="00000500000000000000" pitchFamily="2" charset="0"/>
              </a:rPr>
              <a:t> seria el mas eficiente para nuestro proyecto ya que es donde mejor </a:t>
            </a:r>
            <a:r>
              <a:rPr lang="es-ES" sz="1000" dirty="0" err="1">
                <a:latin typeface="Montserrat" panose="00000500000000000000" pitchFamily="2" charset="0"/>
              </a:rPr>
              <a:t>recall</a:t>
            </a:r>
            <a:r>
              <a:rPr lang="es-ES" sz="1000" dirty="0">
                <a:latin typeface="Montserrat" panose="00000500000000000000" pitchFamily="2" charset="0"/>
              </a:rPr>
              <a:t> tenemos y esto nos ayuda a identificar mejor los potenciales cancelados. </a:t>
            </a:r>
            <a:r>
              <a:rPr lang="es-ES" sz="1000" dirty="0" err="1">
                <a:latin typeface="Montserrat" panose="00000500000000000000" pitchFamily="2" charset="0"/>
              </a:rPr>
              <a:t>Ademas</a:t>
            </a:r>
            <a:r>
              <a:rPr lang="es-ES" sz="1000" dirty="0">
                <a:latin typeface="Montserrat" panose="00000500000000000000" pitchFamily="2" charset="0"/>
              </a:rPr>
              <a:t> tiene un buen balance con F1-Score y </a:t>
            </a:r>
            <a:r>
              <a:rPr lang="es-ES" sz="1000" dirty="0" err="1">
                <a:latin typeface="Montserrat" panose="00000500000000000000" pitchFamily="2" charset="0"/>
              </a:rPr>
              <a:t>Accuracy</a:t>
            </a:r>
            <a:r>
              <a:rPr lang="es-ES" sz="1000" dirty="0">
                <a:latin typeface="Montserrat" panose="00000500000000000000" pitchFamily="2" charset="0"/>
              </a:rPr>
              <a:t> aceptable.</a:t>
            </a:r>
          </a:p>
          <a:p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AB10787-AD82-24DA-2DF9-9C1999A7B661}"/>
              </a:ext>
            </a:extLst>
          </p:cNvPr>
          <p:cNvSpPr/>
          <p:nvPr/>
        </p:nvSpPr>
        <p:spPr>
          <a:xfrm>
            <a:off x="4572000" y="2343600"/>
            <a:ext cx="288000" cy="14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5467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FC1CBF1D-870F-BBF5-4E4E-8164DA35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14BFB5DB-409C-1804-F803-5496CAFCD18E}"/>
              </a:ext>
            </a:extLst>
          </p:cNvPr>
          <p:cNvSpPr txBox="1"/>
          <p:nvPr/>
        </p:nvSpPr>
        <p:spPr>
          <a:xfrm>
            <a:off x="356011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dirty="0">
                <a:solidFill>
                  <a:schemeClr val="accent3"/>
                </a:solidFill>
              </a:rPr>
              <a:t>OPTIMIZACIONES</a:t>
            </a:r>
            <a:endParaRPr sz="2600" dirty="0">
              <a:solidFill>
                <a:schemeClr val="accent3"/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693CABCD-55B7-1D50-AA64-931DEA713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11C01839-CFBF-A34B-CBC1-BF262BA00344}"/>
              </a:ext>
            </a:extLst>
          </p:cNvPr>
          <p:cNvSpPr txBox="1"/>
          <p:nvPr/>
        </p:nvSpPr>
        <p:spPr>
          <a:xfrm>
            <a:off x="356011" y="818423"/>
            <a:ext cx="5841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Montserrat" panose="00000500000000000000" pitchFamily="2" charset="0"/>
              </a:rPr>
              <a:t>Modelos Optimizados</a:t>
            </a:r>
          </a:p>
          <a:p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DB3289-F264-B136-EE56-F81E2CF65885}"/>
              </a:ext>
            </a:extLst>
          </p:cNvPr>
          <p:cNvSpPr txBox="1"/>
          <p:nvPr/>
        </p:nvSpPr>
        <p:spPr>
          <a:xfrm>
            <a:off x="356011" y="1341643"/>
            <a:ext cx="5841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Montserrat" panose="00000500000000000000" pitchFamily="2" charset="0"/>
              </a:rPr>
              <a:t> 🎯SMOTE para </a:t>
            </a:r>
            <a:r>
              <a:rPr lang="es-ES" sz="1100" dirty="0" err="1">
                <a:latin typeface="Montserrat" panose="00000500000000000000" pitchFamily="2" charset="0"/>
              </a:rPr>
              <a:t>Random</a:t>
            </a:r>
            <a:r>
              <a:rPr lang="es-ES" sz="1100" dirty="0">
                <a:latin typeface="Montserrat" panose="00000500000000000000" pitchFamily="2" charset="0"/>
              </a:rPr>
              <a:t> Forest y </a:t>
            </a:r>
            <a:r>
              <a:rPr lang="es-ES" sz="1100" dirty="0" err="1">
                <a:latin typeface="Montserrat" panose="00000500000000000000" pitchFamily="2" charset="0"/>
              </a:rPr>
              <a:t>XGBoost</a:t>
            </a:r>
            <a:r>
              <a:rPr lang="es-ES" sz="1100" dirty="0">
                <a:latin typeface="Montserrat" panose="00000500000000000000" pitchFamily="2" charset="0"/>
              </a:rPr>
              <a:t>: 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2844E0E-1389-0AC2-E6CE-40FC97724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14" y="1979995"/>
            <a:ext cx="3421647" cy="196312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B6C8D6A-F04A-E405-5907-D53C4E06E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068" y="1975272"/>
            <a:ext cx="3525732" cy="196785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C7E56B2-41CC-8C75-24A6-AC5E0E795910}"/>
              </a:ext>
            </a:extLst>
          </p:cNvPr>
          <p:cNvSpPr/>
          <p:nvPr/>
        </p:nvSpPr>
        <p:spPr>
          <a:xfrm>
            <a:off x="6296618" y="3190691"/>
            <a:ext cx="318927" cy="169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664AE3F-CCA8-CA33-F2DE-F5D066B8C5F5}"/>
              </a:ext>
            </a:extLst>
          </p:cNvPr>
          <p:cNvSpPr txBox="1"/>
          <p:nvPr/>
        </p:nvSpPr>
        <p:spPr>
          <a:xfrm>
            <a:off x="554809" y="4221203"/>
            <a:ext cx="767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Montserrat" panose="00000500000000000000" pitchFamily="2" charset="0"/>
              </a:rPr>
              <a:t>	</a:t>
            </a:r>
            <a:r>
              <a:rPr lang="es-ES" sz="1000" dirty="0">
                <a:latin typeface="Montserrat" panose="00000500000000000000" pitchFamily="2" charset="0"/>
              </a:rPr>
              <a:t>Con técnica SMOTE (balancear data set) logramos mejorar el RECALL que era nuestro objetivo. A pesar de perder un poco de Precisión para los No cancelados, logramos mejorar en los Cancelados y el balance es mas positivo. En este caso avanzaríamos con XGBOOST (SMOTE)</a:t>
            </a:r>
          </a:p>
          <a:p>
            <a:endParaRPr lang="es-ES" sz="10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034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1064AB0A-41B8-CC04-5C89-86FDF26CB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4329C896-A8B7-BCF6-7F55-FB70D68DBE02}"/>
              </a:ext>
            </a:extLst>
          </p:cNvPr>
          <p:cNvSpPr txBox="1"/>
          <p:nvPr/>
        </p:nvSpPr>
        <p:spPr>
          <a:xfrm>
            <a:off x="356011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dirty="0">
                <a:solidFill>
                  <a:schemeClr val="accent3"/>
                </a:solidFill>
              </a:rPr>
              <a:t>OPTIMIZACIONES</a:t>
            </a:r>
            <a:endParaRPr sz="2600" dirty="0">
              <a:solidFill>
                <a:schemeClr val="accent3"/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E732CDBF-F83F-3F53-4D7B-C8DFC0BEA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10CB88DF-DE79-B745-DDCB-F09B724E4EE5}"/>
              </a:ext>
            </a:extLst>
          </p:cNvPr>
          <p:cNvSpPr txBox="1"/>
          <p:nvPr/>
        </p:nvSpPr>
        <p:spPr>
          <a:xfrm>
            <a:off x="356011" y="818423"/>
            <a:ext cx="5841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Montserrat" panose="00000500000000000000" pitchFamily="2" charset="0"/>
              </a:rPr>
              <a:t>Modelos Optimizados</a:t>
            </a:r>
          </a:p>
          <a:p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719086-712D-88FF-3847-3D060A4E9D11}"/>
              </a:ext>
            </a:extLst>
          </p:cNvPr>
          <p:cNvSpPr txBox="1"/>
          <p:nvPr/>
        </p:nvSpPr>
        <p:spPr>
          <a:xfrm>
            <a:off x="356011" y="1341643"/>
            <a:ext cx="58417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Montserrat" panose="00000500000000000000" pitchFamily="2" charset="0"/>
              </a:rPr>
              <a:t> 🎯HIPERPARAMETROS + </a:t>
            </a:r>
            <a:r>
              <a:rPr lang="es-ES" sz="1100" dirty="0" err="1">
                <a:latin typeface="Montserrat" panose="00000500000000000000" pitchFamily="2" charset="0"/>
              </a:rPr>
              <a:t>HistGradientBoostingClassifier</a:t>
            </a:r>
            <a:endParaRPr lang="es-ES" sz="1100" dirty="0">
              <a:latin typeface="Montserrat" panose="00000500000000000000" pitchFamily="2" charset="0"/>
            </a:endParaRPr>
          </a:p>
          <a:p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7B2C11F-C719-898B-059F-F19329EE06D6}"/>
              </a:ext>
            </a:extLst>
          </p:cNvPr>
          <p:cNvSpPr txBox="1"/>
          <p:nvPr/>
        </p:nvSpPr>
        <p:spPr>
          <a:xfrm>
            <a:off x="4046034" y="3641713"/>
            <a:ext cx="43034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Aplicando tanto optimización de </a:t>
            </a:r>
            <a:r>
              <a:rPr lang="es-ES" sz="1000" dirty="0" err="1">
                <a:latin typeface="Montserrat" panose="00000500000000000000" pitchFamily="2" charset="0"/>
              </a:rPr>
              <a:t>Hiperparametros</a:t>
            </a:r>
            <a:r>
              <a:rPr lang="es-ES" sz="1000" dirty="0">
                <a:latin typeface="Montserrat" panose="00000500000000000000" pitchFamily="2" charset="0"/>
              </a:rPr>
              <a:t> como otro método “</a:t>
            </a:r>
            <a:r>
              <a:rPr lang="es-ES" sz="1000" dirty="0" err="1">
                <a:latin typeface="Montserrat" panose="00000500000000000000" pitchFamily="2" charset="0"/>
              </a:rPr>
              <a:t>HistGradientBoost</a:t>
            </a:r>
            <a:r>
              <a:rPr lang="es-ES" sz="1000" dirty="0">
                <a:latin typeface="Montserrat" panose="00000500000000000000" pitchFamily="2" charset="0"/>
              </a:rPr>
              <a:t>”, no logramos mejorar </a:t>
            </a:r>
            <a:r>
              <a:rPr lang="es-ES" sz="1000" dirty="0" err="1">
                <a:latin typeface="Montserrat" panose="00000500000000000000" pitchFamily="2" charset="0"/>
              </a:rPr>
              <a:t>recall</a:t>
            </a:r>
            <a:r>
              <a:rPr lang="es-ES" sz="1000" dirty="0">
                <a:latin typeface="Montserrat" panose="00000500000000000000" pitchFamily="2" charset="0"/>
              </a:rPr>
              <a:t> que es nuestro primer objetivo. </a:t>
            </a:r>
          </a:p>
          <a:p>
            <a:endParaRPr lang="es-ES" sz="1000" dirty="0">
              <a:latin typeface="Montserrat" panose="00000500000000000000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ED8CC8-7BB1-5141-064D-2991C6BCA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30" y="1655642"/>
            <a:ext cx="6975764" cy="136430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F283719-E106-41D6-14A4-1CFCF9BA3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30" y="3190691"/>
            <a:ext cx="2825505" cy="162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4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E4D5B66A-CF60-4427-7710-077B44620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>
            <a:extLst>
              <a:ext uri="{FF2B5EF4-FFF2-40B4-BE49-F238E27FC236}">
                <a16:creationId xmlns:a16="http://schemas.microsoft.com/office/drawing/2014/main" id="{06703FD7-00F7-39E9-3B31-1B03785E4B7F}"/>
              </a:ext>
            </a:extLst>
          </p:cNvPr>
          <p:cNvSpPr txBox="1"/>
          <p:nvPr/>
        </p:nvSpPr>
        <p:spPr>
          <a:xfrm>
            <a:off x="356011" y="62251"/>
            <a:ext cx="7105752" cy="6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dirty="0">
                <a:solidFill>
                  <a:schemeClr val="accent3"/>
                </a:solidFill>
              </a:rPr>
              <a:t>CONCLUSION</a:t>
            </a:r>
            <a:endParaRPr sz="2600" dirty="0">
              <a:solidFill>
                <a:schemeClr val="accent3"/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BB9B8409-23C1-A61F-814C-078A5580A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4" y="134738"/>
            <a:ext cx="1184562" cy="27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BB473DA-3CB3-8D9E-EA44-0C4AED885348}"/>
              </a:ext>
            </a:extLst>
          </p:cNvPr>
          <p:cNvSpPr txBox="1"/>
          <p:nvPr/>
        </p:nvSpPr>
        <p:spPr>
          <a:xfrm>
            <a:off x="272883" y="758786"/>
            <a:ext cx="8515105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100" dirty="0">
              <a:latin typeface="Montserrat" panose="00000500000000000000" pitchFamily="2" charset="0"/>
            </a:endParaRPr>
          </a:p>
          <a:p>
            <a:r>
              <a:rPr lang="es-ES" sz="1200" b="1" dirty="0"/>
              <a:t>✅ </a:t>
            </a:r>
            <a:r>
              <a:rPr lang="es-ES" sz="1200" b="1" dirty="0">
                <a:latin typeface="Montserrat" panose="00000500000000000000" pitchFamily="2" charset="0"/>
              </a:rPr>
              <a:t>Conclusiones Finales del Proyecto</a:t>
            </a:r>
          </a:p>
          <a:p>
            <a:endParaRPr lang="es-ES" sz="1200" b="1" dirty="0">
              <a:latin typeface="Montserrat" panose="00000500000000000000" pitchFamily="2" charset="0"/>
            </a:endParaRPr>
          </a:p>
          <a:p>
            <a:r>
              <a:rPr lang="es-ES" sz="1100" dirty="0">
                <a:latin typeface="Montserrat" panose="00000500000000000000" pitchFamily="2" charset="0"/>
              </a:rPr>
              <a:t>Este proyecto se enfocó en analizar y predecir cancelaciones de reservas en alojamientos. A través del análisis exploratorio (EDA) se identificaron factores clave:</a:t>
            </a:r>
          </a:p>
          <a:p>
            <a:br>
              <a:rPr lang="es-ES" sz="1100" dirty="0">
                <a:latin typeface="Montserrat" panose="00000500000000000000" pitchFamily="2" charset="0"/>
              </a:rPr>
            </a:br>
            <a:r>
              <a:rPr lang="es-ES" sz="1100" dirty="0">
                <a:latin typeface="Montserrat" panose="00000500000000000000" pitchFamily="2" charset="0"/>
              </a:rPr>
              <a:t>– Mayor probabilidad de cancelación con reservas anticipadas (lead time largo)</a:t>
            </a:r>
            <a:br>
              <a:rPr lang="es-ES" sz="1100" dirty="0">
                <a:latin typeface="Montserrat" panose="00000500000000000000" pitchFamily="2" charset="0"/>
              </a:rPr>
            </a:br>
            <a:r>
              <a:rPr lang="es-ES" sz="1100" dirty="0">
                <a:latin typeface="Montserrat" panose="00000500000000000000" pitchFamily="2" charset="0"/>
              </a:rPr>
              <a:t>– Menor cancelación en clientes repetitivos y con pedidos especiales</a:t>
            </a:r>
            <a:br>
              <a:rPr lang="es-ES" sz="1100" dirty="0">
                <a:latin typeface="Montserrat" panose="00000500000000000000" pitchFamily="2" charset="0"/>
              </a:rPr>
            </a:br>
            <a:r>
              <a:rPr lang="es-ES" sz="1100" dirty="0">
                <a:latin typeface="Montserrat" panose="00000500000000000000" pitchFamily="2" charset="0"/>
              </a:rPr>
              <a:t>– Canal online con mayor tasa de cancelaciones</a:t>
            </a:r>
          </a:p>
          <a:p>
            <a:endParaRPr lang="es-ES" sz="1100" dirty="0">
              <a:latin typeface="Montserrat" panose="00000500000000000000" pitchFamily="2" charset="0"/>
            </a:endParaRPr>
          </a:p>
          <a:p>
            <a:r>
              <a:rPr lang="es-ES" sz="1100" dirty="0">
                <a:latin typeface="Montserrat" panose="00000500000000000000" pitchFamily="2" charset="0"/>
              </a:rPr>
              <a:t>Se crearon variables nuevas (</a:t>
            </a:r>
            <a:r>
              <a:rPr lang="es-ES" sz="1100" dirty="0" err="1">
                <a:latin typeface="Montserrat" panose="00000500000000000000" pitchFamily="2" charset="0"/>
              </a:rPr>
              <a:t>feature</a:t>
            </a:r>
            <a:r>
              <a:rPr lang="es-ES" sz="1100" dirty="0">
                <a:latin typeface="Montserrat" panose="00000500000000000000" pitchFamily="2" charset="0"/>
              </a:rPr>
              <a:t> </a:t>
            </a:r>
            <a:r>
              <a:rPr lang="es-ES" sz="1100" dirty="0" err="1">
                <a:latin typeface="Montserrat" panose="00000500000000000000" pitchFamily="2" charset="0"/>
              </a:rPr>
              <a:t>engineering</a:t>
            </a:r>
            <a:r>
              <a:rPr lang="es-ES" sz="1100" dirty="0">
                <a:latin typeface="Montserrat" panose="00000500000000000000" pitchFamily="2" charset="0"/>
              </a:rPr>
              <a:t>) como duración de estadía, total de huéspedes y categoría de anticipación, y se preprocesaron los datos para el modelado.</a:t>
            </a:r>
          </a:p>
          <a:p>
            <a:endParaRPr lang="es-ES" sz="1100" dirty="0">
              <a:latin typeface="Montserrat" panose="00000500000000000000" pitchFamily="2" charset="0"/>
            </a:endParaRPr>
          </a:p>
          <a:p>
            <a:r>
              <a:rPr lang="es-ES" sz="1100" dirty="0">
                <a:latin typeface="Montserrat" panose="00000500000000000000" pitchFamily="2" charset="0"/>
              </a:rPr>
              <a:t>Se entrenaron varios modelos, priorizando aquellos con mayor </a:t>
            </a:r>
            <a:r>
              <a:rPr lang="es-ES" sz="1100" dirty="0" err="1">
                <a:latin typeface="Montserrat" panose="00000500000000000000" pitchFamily="2" charset="0"/>
              </a:rPr>
              <a:t>recall</a:t>
            </a:r>
            <a:r>
              <a:rPr lang="es-ES" sz="1100" dirty="0">
                <a:latin typeface="Montserrat" panose="00000500000000000000" pitchFamily="2" charset="0"/>
              </a:rPr>
              <a:t> en la clase cancelada para reducir falsos negativos:</a:t>
            </a:r>
          </a:p>
          <a:p>
            <a:endParaRPr lang="es-ES" sz="1100" dirty="0">
              <a:latin typeface="Montserrat" panose="00000500000000000000" pitchFamily="2" charset="0"/>
            </a:endParaRPr>
          </a:p>
          <a:p>
            <a:r>
              <a:rPr lang="es-ES" sz="1100" dirty="0">
                <a:latin typeface="Montserrat" panose="00000500000000000000" pitchFamily="2" charset="0"/>
              </a:rPr>
              <a:t>	- </a:t>
            </a:r>
            <a:r>
              <a:rPr lang="es-ES" sz="1100" dirty="0" err="1">
                <a:latin typeface="Montserrat" panose="00000500000000000000" pitchFamily="2" charset="0"/>
              </a:rPr>
              <a:t>Random</a:t>
            </a:r>
            <a:r>
              <a:rPr lang="es-ES" sz="1100" dirty="0">
                <a:latin typeface="Montserrat" panose="00000500000000000000" pitchFamily="2" charset="0"/>
              </a:rPr>
              <a:t> Forest y </a:t>
            </a:r>
            <a:r>
              <a:rPr lang="es-ES" sz="1100" dirty="0" err="1">
                <a:latin typeface="Montserrat" panose="00000500000000000000" pitchFamily="2" charset="0"/>
              </a:rPr>
              <a:t>XGBoost</a:t>
            </a:r>
            <a:r>
              <a:rPr lang="es-ES" sz="1100" dirty="0">
                <a:latin typeface="Montserrat" panose="00000500000000000000" pitchFamily="2" charset="0"/>
              </a:rPr>
              <a:t> fueron los más efectivos</a:t>
            </a:r>
          </a:p>
          <a:p>
            <a:r>
              <a:rPr lang="es-ES" sz="1100" dirty="0">
                <a:latin typeface="Montserrat" panose="00000500000000000000" pitchFamily="2" charset="0"/>
              </a:rPr>
              <a:t>	- El uso de SMOTE para balancear los datos mejoró significativamente la detección de cancelaciones</a:t>
            </a:r>
          </a:p>
          <a:p>
            <a:r>
              <a:rPr lang="es-ES" sz="1100" dirty="0">
                <a:latin typeface="Montserrat" panose="00000500000000000000" pitchFamily="2" charset="0"/>
              </a:rPr>
              <a:t>	- El mejor modelo fue </a:t>
            </a:r>
            <a:r>
              <a:rPr lang="es-ES" sz="1100" dirty="0" err="1">
                <a:latin typeface="Montserrat" panose="00000500000000000000" pitchFamily="2" charset="0"/>
              </a:rPr>
              <a:t>XGBoost</a:t>
            </a:r>
            <a:r>
              <a:rPr lang="es-ES" sz="1100" dirty="0">
                <a:latin typeface="Montserrat" panose="00000500000000000000" pitchFamily="2" charset="0"/>
              </a:rPr>
              <a:t> + SMOTE, alcanzando un </a:t>
            </a:r>
            <a:r>
              <a:rPr lang="es-ES" sz="1100" dirty="0" err="1">
                <a:latin typeface="Montserrat" panose="00000500000000000000" pitchFamily="2" charset="0"/>
              </a:rPr>
              <a:t>recall</a:t>
            </a:r>
            <a:r>
              <a:rPr lang="es-ES" sz="1100" dirty="0">
                <a:latin typeface="Montserrat" panose="00000500000000000000" pitchFamily="2" charset="0"/>
              </a:rPr>
              <a:t> del 82% para cancelaciones reales</a:t>
            </a:r>
          </a:p>
          <a:p>
            <a:endParaRPr lang="es-ES" sz="1100" dirty="0">
              <a:latin typeface="Montserrat" panose="00000500000000000000" pitchFamily="2" charset="0"/>
            </a:endParaRPr>
          </a:p>
          <a:p>
            <a:endParaRPr lang="es-ES" sz="1100" dirty="0">
              <a:latin typeface="Montserrat" panose="00000500000000000000" pitchFamily="2" charset="0"/>
            </a:endParaRPr>
          </a:p>
          <a:p>
            <a:r>
              <a:rPr lang="es-ES" sz="1100" dirty="0">
                <a:latin typeface="Montserrat" panose="00000500000000000000" pitchFamily="2" charset="0"/>
              </a:rPr>
              <a:t>🔎 </a:t>
            </a:r>
            <a:r>
              <a:rPr lang="es-ES" sz="1100" b="1" dirty="0">
                <a:latin typeface="Montserrat" panose="00000500000000000000" pitchFamily="2" charset="0"/>
              </a:rPr>
              <a:t>Conclusión</a:t>
            </a:r>
            <a:r>
              <a:rPr lang="es-ES" sz="1100" dirty="0">
                <a:latin typeface="Montserrat" panose="00000500000000000000" pitchFamily="2" charset="0"/>
              </a:rPr>
              <a:t>: El modelo desarrollado permite anticipar cancelaciones con alta efectividad, ofreciendo al negocio herramientas para tomar medidas preventivas y reducir el impacto económico.</a:t>
            </a:r>
          </a:p>
          <a:p>
            <a:endParaRPr lang="es-ES" sz="1100" dirty="0">
              <a:latin typeface="Montserrat" panose="00000500000000000000" pitchFamily="2" charset="0"/>
            </a:endParaRPr>
          </a:p>
          <a:p>
            <a:endParaRPr lang="es-ES" sz="1100" dirty="0">
              <a:latin typeface="Montserrat" panose="00000500000000000000" pitchFamily="2" charset="0"/>
            </a:endParaRPr>
          </a:p>
          <a:p>
            <a:endParaRPr lang="es-ES" sz="1100" dirty="0">
              <a:latin typeface="Montserrat" panose="00000500000000000000" pitchFamily="2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8345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8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>
            <a:spLocks noGrp="1"/>
          </p:cNvSpPr>
          <p:nvPr>
            <p:ph type="ctrTitle"/>
          </p:nvPr>
        </p:nvSpPr>
        <p:spPr>
          <a:xfrm>
            <a:off x="-25" y="1738235"/>
            <a:ext cx="9144000" cy="1230000"/>
          </a:xfrm>
          <a:prstGeom prst="rect">
            <a:avLst/>
          </a:prstGeom>
        </p:spPr>
        <p:txBody>
          <a:bodyPr spcFirstLastPara="1" wrap="square" lIns="91425" tIns="90000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 dirty="0">
                <a:solidFill>
                  <a:srgbClr val="073763"/>
                </a:solidFill>
                <a:latin typeface="Montserrat"/>
                <a:ea typeface="Montserrat SemiBold"/>
                <a:cs typeface="Montserrat SemiBold"/>
                <a:sym typeface="Montserrat"/>
              </a:rPr>
              <a:t>GRACIAS</a:t>
            </a:r>
            <a:endParaRPr sz="1800" dirty="0">
              <a:solidFill>
                <a:srgbClr val="FFFBF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-25" y="3163528"/>
            <a:ext cx="91440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dirty="0">
                <a:solidFill>
                  <a:srgbClr val="274E1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FACUNDO BOSCH – 05.08.2025</a:t>
            </a:r>
            <a:endParaRPr sz="1800" dirty="0">
              <a:solidFill>
                <a:srgbClr val="274E1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FFAB40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1259</TotalTime>
  <Words>1718</Words>
  <Application>Microsoft Office PowerPoint</Application>
  <PresentationFormat>Presentación en pantalla (16:9)</PresentationFormat>
  <Paragraphs>186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Montserrat</vt:lpstr>
      <vt:lpstr>Montserrat SemiBold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Facundo Bosch</dc:creator>
  <cp:lastModifiedBy>Lutz Schwenke</cp:lastModifiedBy>
  <cp:revision>2</cp:revision>
  <dcterms:modified xsi:type="dcterms:W3CDTF">2025-09-26T08:19:46Z</dcterms:modified>
</cp:coreProperties>
</file>